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8" r:id="rId10"/>
    <p:sldId id="260" r:id="rId11"/>
    <p:sldId id="266" r:id="rId12"/>
    <p:sldId id="265" r:id="rId13"/>
    <p:sldId id="267" r:id="rId14"/>
    <p:sldId id="268" r:id="rId15"/>
    <p:sldId id="283" r:id="rId16"/>
    <p:sldId id="269" r:id="rId17"/>
    <p:sldId id="270" r:id="rId18"/>
    <p:sldId id="271" r:id="rId19"/>
    <p:sldId id="272" r:id="rId20"/>
    <p:sldId id="280" r:id="rId21"/>
    <p:sldId id="273" r:id="rId22"/>
    <p:sldId id="274" r:id="rId23"/>
    <p:sldId id="281" r:id="rId24"/>
    <p:sldId id="282" r:id="rId25"/>
    <p:sldId id="275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6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63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4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7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2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08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7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86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8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1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89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9655E-2BB9-4B60-B8DD-2CB9EC2338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1C02F-A6F9-4F98-9247-30912290C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73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413"/>
            <a:ext cx="9144000" cy="1051342"/>
          </a:xfrm>
        </p:spPr>
        <p:txBody>
          <a:bodyPr>
            <a:normAutofit/>
          </a:bodyPr>
          <a:lstStyle/>
          <a:p>
            <a:r>
              <a:rPr lang="en-IN" sz="3600" dirty="0" smtClean="0">
                <a:solidFill>
                  <a:srgbClr val="7030A0"/>
                </a:solidFill>
                <a:latin typeface="Bell MT" panose="02020503060305020303" pitchFamily="18" charset="0"/>
              </a:rPr>
              <a:t>UNIT IV</a:t>
            </a:r>
            <a:endParaRPr lang="en-IN" sz="3600" dirty="0">
              <a:solidFill>
                <a:srgbClr val="7030A0"/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8169" y="2647532"/>
            <a:ext cx="9144000" cy="1655762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</a:rPr>
              <a:t>Transistor Biasing</a:t>
            </a:r>
            <a:endParaRPr lang="en-IN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3638479"/>
            <a:ext cx="9153525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7030A0"/>
                </a:solidFill>
                <a:latin typeface="Baskerville Old Face" panose="02020602080505020303" pitchFamily="18" charset="0"/>
              </a:rPr>
              <a:t>Biasing</a:t>
            </a:r>
            <a:endParaRPr lang="en-IN" dirty="0">
              <a:solidFill>
                <a:srgbClr val="7030A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968" y="1443788"/>
            <a:ext cx="11534274" cy="52136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 biasing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applying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DC voltages and currents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a transistor to set it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 operating region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(usually the active region) for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Biasing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stable operating point (Q-point):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transistor must operate in a fixed region of its characteristics to ensure predictable behavior.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prevent distortion: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the input signal varies symmetrically without clipping.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achieve temperature stability: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Compensates for changes in transistor parameters due to temperature variations.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proper transistor operation: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Keeps the transistor in the desired region (cut-off, active, or saturation).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99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673074"/>
              </p:ext>
            </p:extLst>
          </p:nvPr>
        </p:nvGraphicFramePr>
        <p:xfrm>
          <a:off x="1086852" y="22029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080659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501303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28992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0532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Base-Emitter Junction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Base-Collector Junction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23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Cut-off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Reverse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Reverse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Switch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171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Forward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Reverse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Amplifier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23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Saturation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Forward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Forward biased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Switch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766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85736" y="597019"/>
            <a:ext cx="701737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Operating Regions of a Transistor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93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Types of Biasing Circuits (for BJT)</a:t>
            </a:r>
            <a:br>
              <a:rPr lang="en-US" b="1" dirty="0" smtClean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098884" y="1825626"/>
            <a:ext cx="1008246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Fixed Bias (Base Bias):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A resistor is connected between the base and supply voltage.</a:t>
            </a:r>
            <a:br>
              <a:rPr lang="en-US" sz="2000" dirty="0" smtClean="0"/>
            </a:br>
            <a:r>
              <a:rPr lang="en-US" sz="2000" dirty="0" smtClean="0"/>
              <a:t>→ Simple but poor stability.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Collector-to-Base Bias (Feedback Bias):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A resistor connects the base to the collector for feedback stabilization.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Voltage Divider Bias (Self Bias):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Uses two resistors (R1, R2) to form a voltage divider at the base.</a:t>
            </a:r>
            <a:br>
              <a:rPr lang="en-US" sz="2000" dirty="0" smtClean="0"/>
            </a:br>
            <a:r>
              <a:rPr lang="en-US" sz="2000" dirty="0" smtClean="0"/>
              <a:t>→ </a:t>
            </a:r>
            <a:r>
              <a:rPr lang="en-US" sz="2000" b="1" dirty="0" smtClean="0"/>
              <a:t>Most stable and widely used.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Emitter Bias (Stabilized Bias):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Uses a resistor in the emitter leg to provide thermal stability.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535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srgbClr val="7030A0"/>
                </a:solidFill>
              </a:rPr>
              <a:t>Transistor Stability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Transistor stability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refers to the ability of a transistor biasing circuit to </a:t>
            </a:r>
            <a:r>
              <a:rPr lang="en-US" b="1" dirty="0" smtClean="0"/>
              <a:t>maintain a constant operating point (Q-point)</a:t>
            </a:r>
            <a:r>
              <a:rPr lang="en-US" dirty="0" smtClean="0"/>
              <a:t> — that is, stable collector current (</a:t>
            </a:r>
            <a:r>
              <a:rPr lang="en-US" b="1" dirty="0" smtClean="0"/>
              <a:t>IC</a:t>
            </a:r>
            <a:r>
              <a:rPr lang="en-US" dirty="0" smtClean="0"/>
              <a:t>) and collector-emitter voltage (</a:t>
            </a:r>
            <a:r>
              <a:rPr lang="en-US" b="1" dirty="0" smtClean="0"/>
              <a:t>VCE</a:t>
            </a:r>
            <a:r>
              <a:rPr lang="en-US" dirty="0" smtClean="0"/>
              <a:t>) — </a:t>
            </a:r>
            <a:r>
              <a:rPr lang="en-US" b="1" dirty="0" smtClean="0"/>
              <a:t>despite variations</a:t>
            </a:r>
            <a:r>
              <a:rPr lang="en-US" dirty="0" smtClean="0"/>
              <a:t> in:</a:t>
            </a:r>
          </a:p>
          <a:p>
            <a:pPr algn="just"/>
            <a:r>
              <a:rPr lang="en-US" b="1" dirty="0" smtClean="0"/>
              <a:t>Temperature</a:t>
            </a:r>
            <a:endParaRPr lang="en-US" dirty="0" smtClean="0"/>
          </a:p>
          <a:p>
            <a:pPr algn="just"/>
            <a:r>
              <a:rPr lang="en-US" b="1" dirty="0" smtClean="0"/>
              <a:t>Transistor parameters</a:t>
            </a:r>
            <a:r>
              <a:rPr lang="en-US" dirty="0" smtClean="0"/>
              <a:t> (like </a:t>
            </a:r>
            <a:r>
              <a:rPr lang="en-US" b="1" dirty="0" smtClean="0"/>
              <a:t>β</a:t>
            </a:r>
            <a:r>
              <a:rPr lang="en-US" dirty="0" smtClean="0"/>
              <a:t>, the current gain)</a:t>
            </a:r>
          </a:p>
          <a:p>
            <a:pPr algn="just"/>
            <a:r>
              <a:rPr lang="en-US" b="1" dirty="0" smtClean="0"/>
              <a:t>Power supply voltage (VCC)</a:t>
            </a:r>
            <a:endParaRPr lang="en-US" dirty="0" smtClean="0"/>
          </a:p>
          <a:p>
            <a:pPr algn="just"/>
            <a:r>
              <a:rPr lang="en-US" dirty="0" smtClean="0"/>
              <a:t>A bias circuit with good stability keeps the transistor’s performance </a:t>
            </a:r>
            <a:r>
              <a:rPr lang="en-US" b="1" dirty="0" smtClean="0"/>
              <a:t>unchanged under these variations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4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Causes of Instability</a:t>
            </a:r>
            <a:br>
              <a:rPr lang="en-US" b="1" dirty="0" smtClean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Temperature rise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increases leakage current (</a:t>
            </a:r>
            <a:r>
              <a:rPr lang="en-US" b="1" dirty="0" smtClean="0"/>
              <a:t>ICO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Variation in β (beta)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from one transistor to another.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Change in VBE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(base-emitter voltage) with temperature.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97832" y="3478542"/>
            <a:ext cx="99621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The stability of a transistor circuit is measured using </a:t>
            </a:r>
            <a:r>
              <a:rPr lang="en-US" sz="2400" b="1" dirty="0" smtClean="0"/>
              <a:t>stability factors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These indicate how much the collector current (</a:t>
            </a:r>
            <a:r>
              <a:rPr lang="en-US" sz="2400" b="1" dirty="0" smtClean="0"/>
              <a:t>IC</a:t>
            </a:r>
            <a:r>
              <a:rPr lang="en-US" sz="2400" dirty="0" smtClean="0"/>
              <a:t>) changes when parameters like </a:t>
            </a:r>
            <a:r>
              <a:rPr lang="en-US" sz="2400" b="1" dirty="0" smtClean="0"/>
              <a:t>ICO</a:t>
            </a:r>
            <a:r>
              <a:rPr lang="en-US" sz="2400" dirty="0" smtClean="0"/>
              <a:t>, </a:t>
            </a:r>
            <a:r>
              <a:rPr lang="en-US" sz="2400" b="1" dirty="0" smtClean="0"/>
              <a:t>VBE</a:t>
            </a:r>
            <a:r>
              <a:rPr lang="en-US" sz="2400" dirty="0" smtClean="0"/>
              <a:t>, or </a:t>
            </a:r>
            <a:r>
              <a:rPr lang="en-US" sz="2400" b="1" dirty="0" smtClean="0"/>
              <a:t>β</a:t>
            </a:r>
            <a:r>
              <a:rPr lang="en-US" sz="2400" dirty="0" smtClean="0"/>
              <a:t> vary.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174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Stability Factor (S)</a:t>
            </a:r>
            <a:endParaRPr lang="en-IN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3718" y="2109537"/>
            <a:ext cx="8620340" cy="360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4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070684" cy="3327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Stability Factor with respect to β</a:t>
            </a:r>
            <a:endParaRPr lang="en-IN" sz="2400" b="1" dirty="0">
              <a:solidFill>
                <a:srgbClr val="7030A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243" y="994324"/>
            <a:ext cx="5058481" cy="11050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2211204"/>
            <a:ext cx="3462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Stability Factor </a:t>
            </a:r>
            <a:r>
              <a:rPr lang="en-US" dirty="0" smtClean="0">
                <a:solidFill>
                  <a:srgbClr val="7030A0"/>
                </a:solidFill>
              </a:rPr>
              <a:t>with respect to VBE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43" y="2955940"/>
            <a:ext cx="6439799" cy="9716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5918" y="4499355"/>
            <a:ext cx="11346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Condition for Perfect Stability:</a:t>
            </a:r>
          </a:p>
          <a:p>
            <a:endParaRPr lang="en-US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S=1,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 means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 current IC is independent of ICO, β, and VBE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but practically, this is not achievable.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6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05325" y="499773"/>
            <a:ext cx="11213431" cy="594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4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Load Line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load line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straight line drawn on the transistor’s output characteristics (IC vs VCE curve) that represents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possible combinations of collector current (IC)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collector-emitter voltage (VCE)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a given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biasing circuit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the transistor behaves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DC conditions (no input signal)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based on the supply voltage and circuit resistances.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/>
              <a:t>The </a:t>
            </a:r>
            <a:r>
              <a:rPr lang="en-US" sz="2400" b="1" dirty="0" smtClean="0"/>
              <a:t>DC load line</a:t>
            </a:r>
            <a:r>
              <a:rPr lang="en-US" sz="2400" dirty="0" smtClean="0"/>
              <a:t> is a graphical representation of all possible values of </a:t>
            </a:r>
            <a:r>
              <a:rPr lang="en-US" sz="2400" b="1" dirty="0" smtClean="0"/>
              <a:t>IC</a:t>
            </a:r>
            <a:r>
              <a:rPr lang="en-US" sz="2400" dirty="0" smtClean="0"/>
              <a:t> and </a:t>
            </a:r>
            <a:r>
              <a:rPr lang="en-US" sz="2400" b="1" dirty="0" smtClean="0"/>
              <a:t>VCE</a:t>
            </a:r>
            <a:r>
              <a:rPr lang="en-US" sz="2400" dirty="0" smtClean="0"/>
              <a:t> determined by the external resistors and supply voltage in a transistor circuit.</a:t>
            </a:r>
            <a:br>
              <a:rPr lang="en-US" sz="2400" dirty="0" smtClean="0"/>
            </a:br>
            <a:r>
              <a:rPr lang="en-US" sz="2400" dirty="0" smtClean="0"/>
              <a:t>It helps in locating the </a:t>
            </a:r>
            <a:r>
              <a:rPr lang="en-US" sz="2400" b="1" dirty="0" smtClean="0"/>
              <a:t>operating point (Q-point)</a:t>
            </a:r>
            <a:r>
              <a:rPr lang="en-US" sz="2400" dirty="0" smtClean="0"/>
              <a:t> for proper transistor operation.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>
            <a:stCxn id="3" idx="1"/>
            <a:endCxn id="3" idx="3"/>
          </p:cNvCxnSpPr>
          <p:nvPr/>
        </p:nvCxnSpPr>
        <p:spPr>
          <a:xfrm>
            <a:off x="838200" y="4001294"/>
            <a:ext cx="10515600" cy="0"/>
          </a:xfrm>
          <a:prstGeom prst="line">
            <a:avLst/>
          </a:prstGeom>
          <a:ln w="34925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57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4551" y="5210175"/>
            <a:ext cx="6705600" cy="10288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437" y="824419"/>
            <a:ext cx="3781233" cy="438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7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989" y="1480708"/>
            <a:ext cx="9601200" cy="521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0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442495"/>
            <a:ext cx="9202434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164008"/>
            <a:ext cx="10515600" cy="1325563"/>
          </a:xfrm>
        </p:spPr>
        <p:txBody>
          <a:bodyPr/>
          <a:lstStyle/>
          <a:p>
            <a:pPr algn="ctr"/>
            <a:r>
              <a:rPr lang="en-IN" sz="2800" b="1" dirty="0" smtClean="0">
                <a:solidFill>
                  <a:srgbClr val="7030A0"/>
                </a:solidFill>
              </a:rPr>
              <a:t>Q-Point </a:t>
            </a:r>
            <a:r>
              <a:rPr lang="en-IN" sz="2800" b="1" dirty="0">
                <a:solidFill>
                  <a:srgbClr val="7030A0"/>
                </a:solidFill>
              </a:rPr>
              <a:t>(Quiescent Point)</a:t>
            </a:r>
            <a:br>
              <a:rPr lang="en-IN" sz="2800" b="1" dirty="0">
                <a:solidFill>
                  <a:srgbClr val="7030A0"/>
                </a:solidFill>
              </a:rPr>
            </a:br>
            <a:endParaRPr lang="en-IN" sz="28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975" y="1012869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Q-point</a:t>
            </a:r>
            <a:r>
              <a:rPr lang="en-US" sz="2400" dirty="0"/>
              <a:t> is plotted on the DC load line by determining the operating conditions of the transistor and marking the corresponding </a:t>
            </a:r>
            <a:r>
              <a:rPr lang="en-US" sz="2400" i="1" dirty="0"/>
              <a:t>IC</a:t>
            </a:r>
            <a:r>
              <a:rPr lang="en-US" sz="2400" dirty="0"/>
              <a:t>​ and </a:t>
            </a:r>
            <a:r>
              <a:rPr lang="en-US" sz="2400" i="1" dirty="0"/>
              <a:t>VCE</a:t>
            </a:r>
            <a:r>
              <a:rPr lang="en-US" sz="2400" dirty="0"/>
              <a:t>​ values on the graph.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72211"/>
            <a:ext cx="3609975" cy="28326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81600" y="2680705"/>
            <a:ext cx="670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dirty="0" smtClean="0">
                <a:solidFill>
                  <a:srgbClr val="232323"/>
                </a:solidFill>
                <a:effectLst/>
                <a:latin typeface="Satoshi-variable"/>
              </a:rPr>
              <a:t>The </a:t>
            </a:r>
            <a:r>
              <a:rPr lang="en-US" sz="2000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Satoshi-variable"/>
              </a:rPr>
              <a:t>Q-point is plotted on the DC load line </a:t>
            </a:r>
            <a:r>
              <a:rPr lang="en-US" sz="2000" b="0" i="0" dirty="0" smtClean="0">
                <a:solidFill>
                  <a:srgbClr val="232323"/>
                </a:solidFill>
                <a:effectLst/>
                <a:latin typeface="Satoshi-variable"/>
              </a:rPr>
              <a:t>by determining the operating conditions of the transistor and marking the corresponding </a:t>
            </a:r>
            <a:r>
              <a:rPr lang="en-US" sz="2000" b="0" i="1" dirty="0" smtClean="0">
                <a:solidFill>
                  <a:schemeClr val="accent2">
                    <a:lumMod val="75000"/>
                  </a:schemeClr>
                </a:solidFill>
                <a:effectLst/>
                <a:latin typeface="KaTeX_Math"/>
              </a:rPr>
              <a:t>IC</a:t>
            </a:r>
            <a:r>
              <a:rPr lang="en-US" sz="2000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KaTeX_Main"/>
              </a:rPr>
              <a:t>​</a:t>
            </a:r>
            <a:r>
              <a:rPr lang="en-US" sz="2000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Satoshi-variable"/>
              </a:rPr>
              <a:t> and </a:t>
            </a:r>
            <a:r>
              <a:rPr lang="en-US" sz="2000" b="0" i="1" dirty="0" smtClean="0">
                <a:solidFill>
                  <a:schemeClr val="accent2">
                    <a:lumMod val="75000"/>
                  </a:schemeClr>
                </a:solidFill>
                <a:effectLst/>
                <a:latin typeface="KaTeX_Math"/>
              </a:rPr>
              <a:t>VCE</a:t>
            </a:r>
            <a:r>
              <a:rPr lang="en-US" sz="2000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KaTeX_Main"/>
              </a:rPr>
              <a:t>​</a:t>
            </a:r>
            <a:r>
              <a:rPr lang="en-US" sz="2000" b="0" i="0" dirty="0" smtClean="0">
                <a:solidFill>
                  <a:schemeClr val="accent2">
                    <a:lumMod val="75000"/>
                  </a:schemeClr>
                </a:solidFill>
                <a:effectLst/>
                <a:latin typeface="Satoshi-variable"/>
              </a:rPr>
              <a:t> values </a:t>
            </a:r>
            <a:r>
              <a:rPr lang="en-US" sz="2000" b="0" i="0" dirty="0" smtClean="0">
                <a:solidFill>
                  <a:srgbClr val="232323"/>
                </a:solidFill>
                <a:effectLst/>
                <a:latin typeface="Satoshi-variable"/>
              </a:rPr>
              <a:t>on the graph.</a:t>
            </a:r>
            <a:endParaRPr lang="en-IN" sz="2000" dirty="0"/>
          </a:p>
        </p:txBody>
      </p:sp>
      <p:sp>
        <p:nvSpPr>
          <p:cNvPr id="6" name="Rectangle 5"/>
          <p:cNvSpPr/>
          <p:nvPr/>
        </p:nvSpPr>
        <p:spPr>
          <a:xfrm>
            <a:off x="838200" y="5046682"/>
            <a:ext cx="103155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Purpose of Q-Point</a:t>
            </a:r>
          </a:p>
          <a:p>
            <a:pPr>
              <a:buFont typeface="+mj-lt"/>
              <a:buAutoNum type="arabicPeriod"/>
            </a:pPr>
            <a:r>
              <a:rPr lang="en-US" b="1" dirty="0" smtClean="0"/>
              <a:t>Defines the transistor’s operating region</a:t>
            </a:r>
            <a:r>
              <a:rPr lang="en-US" dirty="0" smtClean="0"/>
              <a:t> (active, cutoff, or saturation).</a:t>
            </a:r>
          </a:p>
          <a:p>
            <a:pPr>
              <a:buFont typeface="+mj-lt"/>
              <a:buAutoNum type="arabicPeriod"/>
            </a:pPr>
            <a:r>
              <a:rPr lang="en-US" b="1" dirty="0" smtClean="0"/>
              <a:t>Ensures faithful amplification</a:t>
            </a:r>
            <a:r>
              <a:rPr lang="en-US" dirty="0" smtClean="0"/>
              <a:t> — signal should not distort or clip.</a:t>
            </a:r>
          </a:p>
          <a:p>
            <a:pPr>
              <a:buFont typeface="+mj-lt"/>
              <a:buAutoNum type="arabicPeriod"/>
            </a:pPr>
            <a:r>
              <a:rPr lang="en-US" b="1" dirty="0" smtClean="0"/>
              <a:t>Maintains thermal stability</a:t>
            </a:r>
            <a:r>
              <a:rPr lang="en-US" dirty="0" smtClean="0"/>
              <a:t> during operation.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37" y="68347"/>
            <a:ext cx="10515600" cy="75782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C00000"/>
                </a:solidFill>
              </a:rPr>
              <a:t>AC Load Line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37" y="1299410"/>
            <a:ext cx="8536295" cy="46278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837" y="3364680"/>
            <a:ext cx="3581900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9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750"/>
          </a:xfrm>
        </p:spPr>
        <p:txBody>
          <a:bodyPr>
            <a:normAutofit/>
          </a:bodyPr>
          <a:lstStyle/>
          <a:p>
            <a:pPr algn="ctr" fontAlgn="base"/>
            <a:r>
              <a:rPr lang="en-US" sz="2800" b="1" dirty="0">
                <a:solidFill>
                  <a:srgbClr val="7030A0"/>
                </a:solidFill>
              </a:rPr>
              <a:t>Factors Affecting the Operating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525"/>
            <a:ext cx="10515600" cy="5024438"/>
          </a:xfrm>
        </p:spPr>
        <p:txBody>
          <a:bodyPr/>
          <a:lstStyle/>
          <a:p>
            <a:pPr marL="0" indent="0" algn="just" fontAlgn="base">
              <a:buNone/>
            </a:pP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point obtained on the dc load line by the value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</a:t>
            </a:r>
            <a:r>
              <a:rPr lang="en-US" i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</a:t>
            </a:r>
            <a:r>
              <a:rPr lang="en-US" i="1" baseline="-250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 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no signal is applied at the input is known as operating point.</a:t>
            </a:r>
          </a:p>
          <a:p>
            <a:pPr marL="0" indent="0" algn="just" fontAlgn="base">
              <a:buNone/>
            </a:pPr>
            <a:endParaRPr lang="en-US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the factors that affect the stability of the operating point</a:t>
            </a:r>
          </a:p>
          <a:p>
            <a:pPr algn="just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dependence of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</a:t>
            </a:r>
            <a:r>
              <a:rPr lang="en-US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of 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due to replacement of transistor.</a:t>
            </a:r>
          </a:p>
          <a:p>
            <a:pPr algn="just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runway.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75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59197"/>
            <a:ext cx="3800475" cy="65405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 smtClean="0">
                <a:solidFill>
                  <a:srgbClr val="7030A0"/>
                </a:solidFill>
              </a:rPr>
              <a:t>Fixed Bias</a:t>
            </a:r>
            <a:endParaRPr lang="en-IN" sz="2400" b="1" dirty="0">
              <a:solidFill>
                <a:srgbClr val="7030A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149" y="628650"/>
            <a:ext cx="4861107" cy="34290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19750" y="337830"/>
            <a:ext cx="63150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In this, a resistance 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R</a:t>
            </a:r>
            <a:r>
              <a:rPr lang="en-US" b="0" i="1" baseline="-25000" dirty="0" smtClean="0">
                <a:solidFill>
                  <a:srgbClr val="273239"/>
                </a:solidFill>
                <a:effectLst/>
                <a:latin typeface="Nunito"/>
              </a:rPr>
              <a:t>B</a:t>
            </a:r>
            <a:r>
              <a:rPr lang="en-US" b="0" i="0" baseline="-25000" dirty="0" smtClean="0">
                <a:solidFill>
                  <a:srgbClr val="273239"/>
                </a:solidFill>
                <a:effectLst/>
                <a:latin typeface="Nunito"/>
              </a:rPr>
              <a:t> 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is connected between supply 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V</a:t>
            </a:r>
            <a:r>
              <a:rPr lang="en-US" b="0" i="1" baseline="-25000" dirty="0" smtClean="0">
                <a:solidFill>
                  <a:srgbClr val="273239"/>
                </a:solidFill>
                <a:effectLst/>
                <a:latin typeface="Nunito"/>
              </a:rPr>
              <a:t>CC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and base terminal of the transistor. The required zero signal base current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 I</a:t>
            </a:r>
            <a:r>
              <a:rPr lang="en-US" b="0" i="1" baseline="-25000" dirty="0" smtClean="0">
                <a:solidFill>
                  <a:srgbClr val="273239"/>
                </a:solidFill>
                <a:effectLst/>
                <a:latin typeface="Nunito"/>
              </a:rPr>
              <a:t>B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is provided by 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V</a:t>
            </a:r>
            <a:r>
              <a:rPr lang="en-US" b="0" i="1" baseline="-25000" dirty="0" smtClean="0">
                <a:solidFill>
                  <a:srgbClr val="273239"/>
                </a:solidFill>
                <a:effectLst/>
                <a:latin typeface="Nunito"/>
              </a:rPr>
              <a:t>CC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and a single </a:t>
            </a:r>
            <a:r>
              <a:rPr lang="en-US" b="0" i="1" dirty="0" smtClean="0">
                <a:solidFill>
                  <a:srgbClr val="273239"/>
                </a:solidFill>
                <a:effectLst/>
                <a:latin typeface="Nunito"/>
              </a:rPr>
              <a:t>V</a:t>
            </a:r>
            <a:r>
              <a:rPr lang="en-US" b="0" i="1" baseline="-25000" dirty="0" smtClean="0">
                <a:solidFill>
                  <a:srgbClr val="273239"/>
                </a:solidFill>
                <a:effectLst/>
                <a:latin typeface="Nunito"/>
              </a:rPr>
              <a:t>CC</a:t>
            </a:r>
            <a:r>
              <a:rPr lang="en-US" b="0" i="0" dirty="0" smtClean="0">
                <a:solidFill>
                  <a:srgbClr val="273239"/>
                </a:solidFill>
                <a:effectLst/>
                <a:latin typeface="Nunito"/>
              </a:rPr>
              <a:t> keeps the base emitter junction forward biased and the collector base junction reverse biased.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815158"/>
            <a:ext cx="6182588" cy="2372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112" y="4146619"/>
            <a:ext cx="6762226" cy="7640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203" y="3924301"/>
            <a:ext cx="3938394" cy="2831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119" y="6059879"/>
            <a:ext cx="2772162" cy="6954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5074" y="6149343"/>
            <a:ext cx="1320167" cy="3693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92409" y="5376412"/>
            <a:ext cx="318549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Stability </a:t>
            </a:r>
            <a:r>
              <a:rPr lang="en-IN" sz="1400" dirty="0" smtClean="0"/>
              <a:t>Factor S is independent of current </a:t>
            </a:r>
            <a:r>
              <a:rPr lang="en-IN" sz="1400" dirty="0" err="1" smtClean="0"/>
              <a:t>Ic</a:t>
            </a:r>
            <a:r>
              <a:rPr lang="en-IN" sz="1400" dirty="0" smtClean="0"/>
              <a:t>, therefore  </a:t>
            </a:r>
            <a:r>
              <a:rPr lang="en-IN" dirty="0" smtClean="0"/>
              <a:t>     =0</a:t>
            </a: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225" y="4819111"/>
            <a:ext cx="1446206" cy="6445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2301" y="5596381"/>
            <a:ext cx="205130" cy="4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4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515600" cy="5529263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Advantages of Fixed Biased Circuit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fontAlgn="base"/>
            <a:r>
              <a:rPr lang="en-US" dirty="0"/>
              <a:t>It is a simple circuit.</a:t>
            </a:r>
          </a:p>
          <a:p>
            <a:pPr fontAlgn="base"/>
            <a:r>
              <a:rPr lang="en-US" dirty="0"/>
              <a:t>The operating point can be fixed anywhere in the active region of the characteristics by simply changing the value of </a:t>
            </a:r>
            <a:r>
              <a:rPr lang="en-US" i="1" dirty="0"/>
              <a:t>R</a:t>
            </a:r>
            <a:r>
              <a:rPr lang="en-US" i="1" baseline="-25000" dirty="0"/>
              <a:t>B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Biasing conditions are set easily.</a:t>
            </a:r>
          </a:p>
          <a:p>
            <a:pPr fontAlgn="base"/>
            <a:r>
              <a:rPr lang="en-US" dirty="0"/>
              <a:t>No loading effect as no resistor is present at base-emitter junction.</a:t>
            </a:r>
          </a:p>
          <a:p>
            <a:pPr fontAlgn="base"/>
            <a:r>
              <a:rPr lang="en-US" dirty="0"/>
              <a:t>Due to their simplicity fixed bias circuits are cost effective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Disadvantages of Fixed Biased Circuit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fontAlgn="base"/>
            <a:r>
              <a:rPr lang="en-US" dirty="0"/>
              <a:t>Poor thermal stability.</a:t>
            </a:r>
          </a:p>
          <a:p>
            <a:pPr fontAlgn="base"/>
            <a:r>
              <a:rPr lang="en-US" dirty="0"/>
              <a:t>Since </a:t>
            </a:r>
            <a:r>
              <a:rPr lang="en-US" i="1" dirty="0"/>
              <a:t>I</a:t>
            </a:r>
            <a:r>
              <a:rPr lang="en-US" i="1" baseline="-25000" dirty="0"/>
              <a:t>C</a:t>
            </a:r>
            <a:r>
              <a:rPr lang="en-US" dirty="0"/>
              <a:t>=β</a:t>
            </a:r>
            <a:r>
              <a:rPr lang="en-US" i="1" dirty="0"/>
              <a:t>I</a:t>
            </a:r>
            <a:r>
              <a:rPr lang="en-US" i="1" baseline="-25000" dirty="0"/>
              <a:t>B</a:t>
            </a:r>
            <a:r>
              <a:rPr lang="en-US" dirty="0"/>
              <a:t> is already fixed. </a:t>
            </a:r>
            <a:r>
              <a:rPr lang="en-US" i="1" dirty="0"/>
              <a:t>I</a:t>
            </a:r>
            <a:r>
              <a:rPr lang="en-US" i="1" baseline="-25000" dirty="0"/>
              <a:t>C</a:t>
            </a:r>
            <a:r>
              <a:rPr lang="en-US" dirty="0"/>
              <a:t> depends on β which is different for same type of transistor and shifts the operating point.</a:t>
            </a:r>
          </a:p>
          <a:p>
            <a:pPr fontAlgn="base"/>
            <a:r>
              <a:rPr lang="en-US" dirty="0"/>
              <a:t>Adjusting the operating point over a wide range may be challenging</a:t>
            </a:r>
            <a:r>
              <a:rPr lang="en-US" b="1" dirty="0"/>
              <a:t> </a:t>
            </a:r>
            <a:r>
              <a:rPr lang="en-US" dirty="0"/>
              <a:t>with fixed bias</a:t>
            </a:r>
            <a:r>
              <a:rPr lang="en-US" b="1" dirty="0"/>
              <a:t>, </a:t>
            </a:r>
            <a:r>
              <a:rPr lang="en-US" dirty="0"/>
              <a:t>limiting</a:t>
            </a:r>
            <a:r>
              <a:rPr lang="en-US" b="1" dirty="0"/>
              <a:t> </a:t>
            </a:r>
            <a:r>
              <a:rPr lang="en-US" dirty="0"/>
              <a:t>its suitability for certain applications.</a:t>
            </a:r>
          </a:p>
          <a:p>
            <a:pPr fontAlgn="base"/>
            <a:r>
              <a:rPr lang="en-US" dirty="0"/>
              <a:t>Potential for thermal runaway.</a:t>
            </a:r>
          </a:p>
          <a:p>
            <a:pPr fontAlgn="base"/>
            <a:r>
              <a:rPr lang="en-US" dirty="0"/>
              <a:t>Limited temperature compensation leads to changes in bias 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77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030704" y="433139"/>
            <a:ext cx="10515600" cy="357104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rgbClr val="7030A0"/>
                </a:solidFill>
              </a:rPr>
              <a:t>Collector </a:t>
            </a:r>
            <a:r>
              <a:rPr lang="en-IN" sz="2400" b="1" dirty="0" smtClean="0">
                <a:solidFill>
                  <a:srgbClr val="7030A0"/>
                </a:solidFill>
              </a:rPr>
              <a:t>to Base Bias</a:t>
            </a:r>
            <a:r>
              <a:rPr lang="en-IN" sz="2400" b="1" dirty="0"/>
              <a:t/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0442"/>
            <a:ext cx="10515600" cy="5334752"/>
          </a:xfrm>
        </p:spPr>
        <p:txBody>
          <a:bodyPr>
            <a:normAutofit/>
          </a:bodyPr>
          <a:lstStyle/>
          <a:p>
            <a:r>
              <a:rPr lang="en-US" sz="1800" dirty="0"/>
              <a:t>In this, one end of </a:t>
            </a:r>
            <a:r>
              <a:rPr lang="en-US" sz="1800" i="1" dirty="0"/>
              <a:t>R</a:t>
            </a:r>
            <a:r>
              <a:rPr lang="en-US" sz="1800" i="1" baseline="-25000" dirty="0"/>
              <a:t>B</a:t>
            </a:r>
            <a:r>
              <a:rPr lang="en-US" sz="1800" dirty="0"/>
              <a:t> resistor is connected to the base and the other end to the collector. here, the base current is not determined by </a:t>
            </a:r>
            <a:r>
              <a:rPr lang="en-US" sz="1800" i="1" dirty="0"/>
              <a:t>V</a:t>
            </a:r>
            <a:r>
              <a:rPr lang="en-US" sz="1800" i="1" baseline="-25000" dirty="0"/>
              <a:t>CC</a:t>
            </a:r>
            <a:r>
              <a:rPr lang="en-US" sz="1800" dirty="0"/>
              <a:t>.</a:t>
            </a:r>
            <a:endParaRPr lang="en-IN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74650"/>
            <a:ext cx="6242279" cy="39481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6442" y="1519495"/>
            <a:ext cx="364155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Circuit:</a:t>
            </a:r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Apply K.V.L. to it:</a:t>
            </a: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 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fontAlgn="base"/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 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[(1+</a:t>
            </a:r>
            <a:r>
              <a:rPr lang="el-GR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β)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IN" i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  <a:p>
            <a:pPr fontAlgn="base"/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 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=(V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)/{(1+</a:t>
            </a:r>
            <a:r>
              <a:rPr lang="el-GR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β)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b="1" dirty="0" smtClean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b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 </a:t>
            </a:r>
            <a:r>
              <a:rPr lang="en-IN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K.V.L. to this circuit,</a:t>
            </a: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 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-(I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)R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i="1" baseline="-25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i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IN" i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i="1" baseline="-25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fontAlgn="base"/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 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β[(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)/(1+</a:t>
            </a:r>
            <a:r>
              <a:rPr lang="el-GR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β)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IN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b="1" i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401"/>
          </a:xfrm>
        </p:spPr>
        <p:txBody>
          <a:bodyPr>
            <a:normAutofit/>
          </a:bodyPr>
          <a:lstStyle/>
          <a:p>
            <a:pPr algn="ctr"/>
            <a:r>
              <a:rPr lang="en-I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 factor of Collector to Base Bias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653" y="1027906"/>
            <a:ext cx="7912760" cy="5625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548" y="5931568"/>
            <a:ext cx="312821" cy="1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7621"/>
            <a:ext cx="10515600" cy="5559342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Advantages of Collector to Base Bias Circuit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fontAlgn="base"/>
            <a:r>
              <a:rPr lang="en-US" dirty="0"/>
              <a:t>It is a simple </a:t>
            </a:r>
            <a:r>
              <a:rPr lang="en-US" dirty="0" smtClean="0"/>
              <a:t>circuit. It </a:t>
            </a:r>
            <a:r>
              <a:rPr lang="en-US" dirty="0"/>
              <a:t>provides some stabilization of the operating point.</a:t>
            </a:r>
          </a:p>
          <a:p>
            <a:pPr fontAlgn="base"/>
            <a:r>
              <a:rPr lang="en-US" dirty="0"/>
              <a:t>It needs only one resistor at base.</a:t>
            </a:r>
          </a:p>
          <a:p>
            <a:pPr fontAlgn="base"/>
            <a:r>
              <a:rPr lang="en-US" dirty="0"/>
              <a:t>Reduced sensitivity to transistor variations.</a:t>
            </a:r>
          </a:p>
          <a:p>
            <a:pPr fontAlgn="base"/>
            <a:r>
              <a:rPr lang="en-US" dirty="0"/>
              <a:t>Lower sensitivity to the power supply changes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Disadvantages of Collector to Base Bias Circuit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fontAlgn="base"/>
            <a:r>
              <a:rPr lang="en-US" dirty="0"/>
              <a:t>It does not provide good stabilization because stability factor is high.</a:t>
            </a:r>
          </a:p>
          <a:p>
            <a:pPr fontAlgn="base"/>
            <a:r>
              <a:rPr lang="en-US" dirty="0"/>
              <a:t>It provides a negative feedback which reduce the gain of the amplifier.</a:t>
            </a:r>
          </a:p>
          <a:p>
            <a:pPr fontAlgn="base"/>
            <a:r>
              <a:rPr lang="en-US" dirty="0"/>
              <a:t>Dependency on component matching.</a:t>
            </a:r>
          </a:p>
          <a:p>
            <a:pPr fontAlgn="base"/>
            <a:r>
              <a:rPr lang="en-US" dirty="0"/>
              <a:t>More complex in comparison to fixed bias circuits.</a:t>
            </a:r>
          </a:p>
          <a:p>
            <a:pPr fontAlgn="base"/>
            <a:r>
              <a:rPr lang="en-US" dirty="0"/>
              <a:t>Restricted utilization in certain application with specific voltage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86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38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solidFill>
                  <a:srgbClr val="7030A0"/>
                </a:solidFill>
              </a:rPr>
              <a:t>Voltage Divider </a:t>
            </a:r>
            <a:r>
              <a:rPr lang="en-IN" sz="2800" b="1" dirty="0" smtClean="0">
                <a:solidFill>
                  <a:srgbClr val="7030A0"/>
                </a:solidFill>
              </a:rPr>
              <a:t>Bias or Self Bias or Universal Bias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4506"/>
            <a:ext cx="10515600" cy="52224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divider is formed by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voltage drop across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forward biases the base emitter junction.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resistor act as a voltage divider giving a fixed voltage at point 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which is base. This is the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biasing method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biasing and stabilization to a transistor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00" y="2675528"/>
            <a:ext cx="4200577" cy="27627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09410" y="2455039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Nunito"/>
              </a:rPr>
              <a:t>Base Circuit: 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Voltage across 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baseline="-25000" dirty="0">
                <a:solidFill>
                  <a:srgbClr val="273239"/>
                </a:solidFill>
                <a:latin typeface="Nunito"/>
              </a:rPr>
              <a:t>2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 is the base voltage 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.</a:t>
            </a:r>
          </a:p>
          <a:p>
            <a:pPr fontAlgn="base"/>
            <a:r>
              <a:rPr lang="en-IN" dirty="0">
                <a:solidFill>
                  <a:srgbClr val="273239"/>
                </a:solidFill>
                <a:latin typeface="Nunito"/>
              </a:rPr>
              <a:t>Apply voltage divider to this </a:t>
            </a:r>
            <a:r>
              <a:rPr lang="en-IN" dirty="0" smtClean="0">
                <a:solidFill>
                  <a:srgbClr val="273239"/>
                </a:solidFill>
                <a:latin typeface="Nunito"/>
              </a:rPr>
              <a:t>circuit</a:t>
            </a:r>
          </a:p>
          <a:p>
            <a:pPr fontAlgn="base"/>
            <a:endParaRPr lang="en-IN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Nunito"/>
              </a:rPr>
              <a:t>∴ 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=(V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2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)/(R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1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+R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2</a:t>
            </a:r>
            <a:r>
              <a:rPr lang="en-IN" i="1" dirty="0" smtClean="0">
                <a:solidFill>
                  <a:srgbClr val="273239"/>
                </a:solidFill>
                <a:latin typeface="Nunito"/>
              </a:rPr>
              <a:t>)</a:t>
            </a:r>
          </a:p>
          <a:p>
            <a:pPr fontAlgn="base"/>
            <a:endParaRPr lang="en-IN" i="1" dirty="0">
              <a:solidFill>
                <a:srgbClr val="273239"/>
              </a:solidFill>
              <a:latin typeface="Nunito"/>
            </a:endParaRPr>
          </a:p>
          <a:p>
            <a:pPr fontAlgn="base"/>
            <a:endParaRPr lang="en-IN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Nunito"/>
              </a:rPr>
              <a:t>Collector Circuit: 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Voltage across 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 is 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dirty="0">
                <a:solidFill>
                  <a:srgbClr val="273239"/>
                </a:solidFill>
                <a:latin typeface="Nunito"/>
              </a:rPr>
              <a:t> and can be obtained as</a:t>
            </a: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=I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-V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BE</a:t>
            </a:r>
            <a:endParaRPr lang="en-IN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Nunito"/>
              </a:rPr>
              <a:t>I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=(V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-V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BE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)/(R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)</a:t>
            </a:r>
            <a:endParaRPr lang="en-IN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IN" dirty="0">
                <a:solidFill>
                  <a:srgbClr val="273239"/>
                </a:solidFill>
                <a:latin typeface="Nunito"/>
              </a:rPr>
              <a:t>Apply K.V.L.</a:t>
            </a: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=I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+V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endParaRPr lang="en-IN" dirty="0">
              <a:solidFill>
                <a:srgbClr val="273239"/>
              </a:solidFill>
              <a:latin typeface="Nunito"/>
            </a:endParaRPr>
          </a:p>
          <a:p>
            <a:pPr fontAlgn="base"/>
            <a:r>
              <a:rPr lang="en-IN" i="1" dirty="0">
                <a:solidFill>
                  <a:srgbClr val="273239"/>
                </a:solidFill>
                <a:latin typeface="Nunito"/>
              </a:rPr>
              <a:t>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=V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-I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C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-I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r>
              <a:rPr lang="en-IN" i="1" dirty="0">
                <a:solidFill>
                  <a:srgbClr val="273239"/>
                </a:solidFill>
                <a:latin typeface="Nunito"/>
              </a:rPr>
              <a:t>R</a:t>
            </a:r>
            <a:r>
              <a:rPr lang="en-IN" i="1" baseline="-25000" dirty="0">
                <a:solidFill>
                  <a:srgbClr val="273239"/>
                </a:solidFill>
                <a:latin typeface="Nunito"/>
              </a:rPr>
              <a:t>E</a:t>
            </a:r>
            <a:endParaRPr lang="en-IN" b="0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4111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30" y="365125"/>
            <a:ext cx="10459453" cy="58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3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738" y="542996"/>
            <a:ext cx="6525536" cy="31627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94" y="3705737"/>
            <a:ext cx="703043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4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1789"/>
            <a:ext cx="10515600" cy="5495174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Advantages of Voltage Divider Base Circuit</a:t>
            </a:r>
            <a:endParaRPr lang="en-US" dirty="0"/>
          </a:p>
          <a:p>
            <a:pPr fontAlgn="base"/>
            <a:r>
              <a:rPr lang="en-US" dirty="0"/>
              <a:t>I</a:t>
            </a:r>
            <a:r>
              <a:rPr lang="en-US" baseline="-25000" dirty="0"/>
              <a:t>C</a:t>
            </a:r>
            <a:r>
              <a:rPr lang="en-US" dirty="0"/>
              <a:t> in this circuit is almost independent of 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transistor</a:t>
            </a:r>
            <a:r>
              <a:rPr lang="en-US" u="sng" dirty="0"/>
              <a:t> </a:t>
            </a:r>
            <a:r>
              <a:rPr lang="en-US" dirty="0" smtClean="0"/>
              <a:t>parameters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The resistor employed in the emitter provides stabilization.</a:t>
            </a:r>
          </a:p>
          <a:p>
            <a:pPr fontAlgn="base"/>
            <a:r>
              <a:rPr lang="en-US" dirty="0"/>
              <a:t>It is the most prominent one.</a:t>
            </a:r>
          </a:p>
          <a:p>
            <a:pPr fontAlgn="base"/>
            <a:r>
              <a:rPr lang="en-US" dirty="0"/>
              <a:t>Flexibility in adjusting operating point.</a:t>
            </a:r>
          </a:p>
          <a:p>
            <a:pPr fontAlgn="base"/>
            <a:r>
              <a:rPr lang="en-US" dirty="0"/>
              <a:t>Moderate sensitivity to power supply changes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Disadvantages of Voltage Divider Base Circuit</a:t>
            </a:r>
            <a:endParaRPr lang="en-US" dirty="0"/>
          </a:p>
          <a:p>
            <a:pPr fontAlgn="base"/>
            <a:r>
              <a:rPr lang="en-US" dirty="0"/>
              <a:t>The signals tend to get mixed up.</a:t>
            </a:r>
          </a:p>
          <a:p>
            <a:pPr fontAlgn="base"/>
            <a:r>
              <a:rPr lang="en-US" dirty="0"/>
              <a:t>It requires more components.</a:t>
            </a:r>
          </a:p>
          <a:p>
            <a:pPr fontAlgn="base"/>
            <a:r>
              <a:rPr lang="en-US" dirty="0"/>
              <a:t>Due to the increased complexity, it tend to be more expensive.</a:t>
            </a:r>
          </a:p>
          <a:p>
            <a:pPr fontAlgn="base"/>
            <a:r>
              <a:rPr lang="en-US" dirty="0"/>
              <a:t>It can lead to reduction in overall circuit efficiency due to the power dissipation.</a:t>
            </a:r>
          </a:p>
          <a:p>
            <a:pPr fontAlgn="base"/>
            <a:r>
              <a:rPr lang="en-US" dirty="0"/>
              <a:t>Dependency on component matching.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2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54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678</Words>
  <Application>Microsoft Office PowerPoint</Application>
  <PresentationFormat>Widescreen</PresentationFormat>
  <Paragraphs>151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Baskerville Old Face</vt:lpstr>
      <vt:lpstr>Bell MT</vt:lpstr>
      <vt:lpstr>Calibri</vt:lpstr>
      <vt:lpstr>Calibri Light</vt:lpstr>
      <vt:lpstr>KaTeX_Main</vt:lpstr>
      <vt:lpstr>KaTeX_Math</vt:lpstr>
      <vt:lpstr>Nunito</vt:lpstr>
      <vt:lpstr>Satoshi-variable</vt:lpstr>
      <vt:lpstr>Times New Roman</vt:lpstr>
      <vt:lpstr>Office Theme</vt:lpstr>
      <vt:lpstr>UNIT IV</vt:lpstr>
      <vt:lpstr>Biasing</vt:lpstr>
      <vt:lpstr>PowerPoint Presentation</vt:lpstr>
      <vt:lpstr>Types of Biasing Circuits (for BJT) </vt:lpstr>
      <vt:lpstr>Transistor Stability</vt:lpstr>
      <vt:lpstr>Causes of Instability </vt:lpstr>
      <vt:lpstr>Overall Stability Factor (S)</vt:lpstr>
      <vt:lpstr>Stability Factor with respect to β</vt:lpstr>
      <vt:lpstr>PowerPoint Presentation</vt:lpstr>
      <vt:lpstr>DC Load Line</vt:lpstr>
      <vt:lpstr>PowerPoint Presentation</vt:lpstr>
      <vt:lpstr>PowerPoint Presentation</vt:lpstr>
      <vt:lpstr>PowerPoint Presentation</vt:lpstr>
      <vt:lpstr>Q-Point (Quiescent Point) </vt:lpstr>
      <vt:lpstr>AC Load Line</vt:lpstr>
      <vt:lpstr>Factors Affecting the Operating Point</vt:lpstr>
      <vt:lpstr>Fixed Bias</vt:lpstr>
      <vt:lpstr>PowerPoint Presentation</vt:lpstr>
      <vt:lpstr>Collector to Base Bias </vt:lpstr>
      <vt:lpstr>Stability factor of Collector to Base Bias</vt:lpstr>
      <vt:lpstr>PowerPoint Presentation</vt:lpstr>
      <vt:lpstr>Voltage Divider Bias or Self Bias or Universal Bias 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</dc:title>
  <dc:creator>REC</dc:creator>
  <cp:lastModifiedBy>REC</cp:lastModifiedBy>
  <cp:revision>27</cp:revision>
  <dcterms:created xsi:type="dcterms:W3CDTF">2025-11-13T05:15:38Z</dcterms:created>
  <dcterms:modified xsi:type="dcterms:W3CDTF">2025-11-20T08:25:06Z</dcterms:modified>
</cp:coreProperties>
</file>