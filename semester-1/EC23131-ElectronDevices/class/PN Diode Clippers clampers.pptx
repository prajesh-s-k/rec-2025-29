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256" r:id="rId3"/>
    <p:sldId id="257" r:id="rId4"/>
    <p:sldId id="258" r:id="rId5"/>
    <p:sldId id="259" r:id="rId6"/>
    <p:sldId id="266" r:id="rId7"/>
    <p:sldId id="271" r:id="rId8"/>
    <p:sldId id="270" r:id="rId9"/>
    <p:sldId id="269" r:id="rId10"/>
    <p:sldId id="268" r:id="rId11"/>
    <p:sldId id="272" r:id="rId12"/>
    <p:sldId id="264" r:id="rId13"/>
    <p:sldId id="260" r:id="rId14"/>
    <p:sldId id="261" r:id="rId15"/>
    <p:sldId id="262" r:id="rId16"/>
    <p:sldId id="273" r:id="rId17"/>
    <p:sldId id="274" r:id="rId18"/>
    <p:sldId id="275" r:id="rId19"/>
    <p:sldId id="27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2" d="100"/>
          <a:sy n="112" d="100"/>
        </p:scale>
        <p:origin x="41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7671B5BE-6B0E-41F2-8AC2-E1FE202AE728}" type="datetimeFigureOut">
              <a:rPr lang="en-IN" smtClean="0"/>
              <a:t>11-09-2025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EC8E69-205D-4346-B430-6CCE79A258B1}" type="slidenum">
              <a:rPr lang="en-IN" smtClean="0"/>
              <a:t>‹#›</a:t>
            </a:fld>
            <a:endParaRPr lang="en-IN"/>
          </a:p>
        </p:txBody>
      </p:sp>
    </p:spTree>
    <p:extLst>
      <p:ext uri="{BB962C8B-B14F-4D97-AF65-F5344CB8AC3E}">
        <p14:creationId xmlns:p14="http://schemas.microsoft.com/office/powerpoint/2010/main" val="4290233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671B5BE-6B0E-41F2-8AC2-E1FE202AE728}" type="datetimeFigureOut">
              <a:rPr lang="en-IN" smtClean="0"/>
              <a:t>11-09-2025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EC8E69-205D-4346-B430-6CCE79A258B1}" type="slidenum">
              <a:rPr lang="en-IN" smtClean="0"/>
              <a:t>‹#›</a:t>
            </a:fld>
            <a:endParaRPr lang="en-IN"/>
          </a:p>
        </p:txBody>
      </p:sp>
    </p:spTree>
    <p:extLst>
      <p:ext uri="{BB962C8B-B14F-4D97-AF65-F5344CB8AC3E}">
        <p14:creationId xmlns:p14="http://schemas.microsoft.com/office/powerpoint/2010/main" val="558758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671B5BE-6B0E-41F2-8AC2-E1FE202AE728}" type="datetimeFigureOut">
              <a:rPr lang="en-IN" smtClean="0"/>
              <a:t>11-09-2025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EC8E69-205D-4346-B430-6CCE79A258B1}" type="slidenum">
              <a:rPr lang="en-IN" smtClean="0"/>
              <a:t>‹#›</a:t>
            </a:fld>
            <a:endParaRPr lang="en-IN"/>
          </a:p>
        </p:txBody>
      </p:sp>
    </p:spTree>
    <p:extLst>
      <p:ext uri="{BB962C8B-B14F-4D97-AF65-F5344CB8AC3E}">
        <p14:creationId xmlns:p14="http://schemas.microsoft.com/office/powerpoint/2010/main" val="1352135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7671B5BE-6B0E-41F2-8AC2-E1FE202AE728}" type="datetimeFigureOut">
              <a:rPr lang="en-IN" smtClean="0"/>
              <a:t>11-09-2025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EC8E69-205D-4346-B430-6CCE79A258B1}" type="slidenum">
              <a:rPr lang="en-IN" smtClean="0"/>
              <a:t>‹#›</a:t>
            </a:fld>
            <a:endParaRPr lang="en-IN"/>
          </a:p>
        </p:txBody>
      </p:sp>
    </p:spTree>
    <p:extLst>
      <p:ext uri="{BB962C8B-B14F-4D97-AF65-F5344CB8AC3E}">
        <p14:creationId xmlns:p14="http://schemas.microsoft.com/office/powerpoint/2010/main" val="37040859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7671B5BE-6B0E-41F2-8AC2-E1FE202AE728}" type="datetimeFigureOut">
              <a:rPr lang="en-IN" smtClean="0"/>
              <a:t>11-09-2025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0EC8E69-205D-4346-B430-6CCE79A258B1}" type="slidenum">
              <a:rPr lang="en-IN" smtClean="0"/>
              <a:t>‹#›</a:t>
            </a:fld>
            <a:endParaRPr lang="en-IN"/>
          </a:p>
        </p:txBody>
      </p:sp>
    </p:spTree>
    <p:extLst>
      <p:ext uri="{BB962C8B-B14F-4D97-AF65-F5344CB8AC3E}">
        <p14:creationId xmlns:p14="http://schemas.microsoft.com/office/powerpoint/2010/main" val="1754628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7671B5BE-6B0E-41F2-8AC2-E1FE202AE728}" type="datetimeFigureOut">
              <a:rPr lang="en-IN" smtClean="0"/>
              <a:t>11-09-2025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0EC8E69-205D-4346-B430-6CCE79A258B1}" type="slidenum">
              <a:rPr lang="en-IN" smtClean="0"/>
              <a:t>‹#›</a:t>
            </a:fld>
            <a:endParaRPr lang="en-IN"/>
          </a:p>
        </p:txBody>
      </p:sp>
    </p:spTree>
    <p:extLst>
      <p:ext uri="{BB962C8B-B14F-4D97-AF65-F5344CB8AC3E}">
        <p14:creationId xmlns:p14="http://schemas.microsoft.com/office/powerpoint/2010/main" val="8943266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71B5BE-6B0E-41F2-8AC2-E1FE202AE728}" type="datetimeFigureOut">
              <a:rPr lang="en-IN" smtClean="0"/>
              <a:t>11-09-2025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0EC8E69-205D-4346-B430-6CCE79A258B1}" type="slidenum">
              <a:rPr lang="en-IN" smtClean="0"/>
              <a:t>‹#›</a:t>
            </a:fld>
            <a:endParaRPr lang="en-IN"/>
          </a:p>
        </p:txBody>
      </p:sp>
    </p:spTree>
    <p:extLst>
      <p:ext uri="{BB962C8B-B14F-4D97-AF65-F5344CB8AC3E}">
        <p14:creationId xmlns:p14="http://schemas.microsoft.com/office/powerpoint/2010/main" val="2881141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671B5BE-6B0E-41F2-8AC2-E1FE202AE728}" type="datetimeFigureOut">
              <a:rPr lang="en-IN" smtClean="0"/>
              <a:t>11-09-2025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EC8E69-205D-4346-B430-6CCE79A258B1}" type="slidenum">
              <a:rPr lang="en-IN" smtClean="0"/>
              <a:t>‹#›</a:t>
            </a:fld>
            <a:endParaRPr lang="en-IN"/>
          </a:p>
        </p:txBody>
      </p:sp>
    </p:spTree>
    <p:extLst>
      <p:ext uri="{BB962C8B-B14F-4D97-AF65-F5344CB8AC3E}">
        <p14:creationId xmlns:p14="http://schemas.microsoft.com/office/powerpoint/2010/main" val="2450494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671B5BE-6B0E-41F2-8AC2-E1FE202AE728}" type="datetimeFigureOut">
              <a:rPr lang="en-IN" smtClean="0"/>
              <a:t>11-09-2025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EC8E69-205D-4346-B430-6CCE79A258B1}" type="slidenum">
              <a:rPr lang="en-IN" smtClean="0"/>
              <a:t>‹#›</a:t>
            </a:fld>
            <a:endParaRPr lang="en-IN"/>
          </a:p>
        </p:txBody>
      </p:sp>
    </p:spTree>
    <p:extLst>
      <p:ext uri="{BB962C8B-B14F-4D97-AF65-F5344CB8AC3E}">
        <p14:creationId xmlns:p14="http://schemas.microsoft.com/office/powerpoint/2010/main" val="1304262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671B5BE-6B0E-41F2-8AC2-E1FE202AE728}" type="datetimeFigureOut">
              <a:rPr lang="en-IN" smtClean="0"/>
              <a:t>11-09-2025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EC8E69-205D-4346-B430-6CCE79A258B1}" type="slidenum">
              <a:rPr lang="en-IN" smtClean="0"/>
              <a:t>‹#›</a:t>
            </a:fld>
            <a:endParaRPr lang="en-IN"/>
          </a:p>
        </p:txBody>
      </p:sp>
    </p:spTree>
    <p:extLst>
      <p:ext uri="{BB962C8B-B14F-4D97-AF65-F5344CB8AC3E}">
        <p14:creationId xmlns:p14="http://schemas.microsoft.com/office/powerpoint/2010/main" val="2044282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671B5BE-6B0E-41F2-8AC2-E1FE202AE728}" type="datetimeFigureOut">
              <a:rPr lang="en-IN" smtClean="0"/>
              <a:t>11-09-2025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EC8E69-205D-4346-B430-6CCE79A258B1}" type="slidenum">
              <a:rPr lang="en-IN" smtClean="0"/>
              <a:t>‹#›</a:t>
            </a:fld>
            <a:endParaRPr lang="en-IN"/>
          </a:p>
        </p:txBody>
      </p:sp>
    </p:spTree>
    <p:extLst>
      <p:ext uri="{BB962C8B-B14F-4D97-AF65-F5344CB8AC3E}">
        <p14:creationId xmlns:p14="http://schemas.microsoft.com/office/powerpoint/2010/main" val="3775672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71B5BE-6B0E-41F2-8AC2-E1FE202AE728}" type="datetimeFigureOut">
              <a:rPr lang="en-IN" smtClean="0"/>
              <a:t>11-09-2025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EC8E69-205D-4346-B430-6CCE79A258B1}" type="slidenum">
              <a:rPr lang="en-IN" smtClean="0"/>
              <a:t>‹#›</a:t>
            </a:fld>
            <a:endParaRPr lang="en-IN"/>
          </a:p>
        </p:txBody>
      </p:sp>
    </p:spTree>
    <p:extLst>
      <p:ext uri="{BB962C8B-B14F-4D97-AF65-F5344CB8AC3E}">
        <p14:creationId xmlns:p14="http://schemas.microsoft.com/office/powerpoint/2010/main" val="33242815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physics-and-radio-electronics.com/electronic-devices-and-circuits/introduction/free-electrons.html" TargetMode="External"/><Relationship Id="rId2" Type="http://schemas.openxmlformats.org/officeDocument/2006/relationships/hyperlink" Target="https://www.physics-and-radio-electronics.com/electromagnetics/electrostatics/potential-difference.html" TargetMode="Externa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rgbClr val="C00000"/>
                </a:solidFill>
                <a:latin typeface="Times New Roman" panose="02020603050405020304" pitchFamily="18" charset="0"/>
                <a:cs typeface="Times New Roman" panose="02020603050405020304" pitchFamily="18" charset="0"/>
              </a:rPr>
              <a:t>CLIPPERS</a:t>
            </a:r>
            <a:endParaRPr lang="en-IN"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endParaRPr lang="en-US" dirty="0"/>
          </a:p>
          <a:p>
            <a:r>
              <a:rPr lang="en-US" dirty="0">
                <a:latin typeface="Times New Roman" panose="02020603050405020304" pitchFamily="18" charset="0"/>
                <a:cs typeface="Times New Roman" panose="02020603050405020304" pitchFamily="18" charset="0"/>
              </a:rPr>
              <a:t>Used for the generation and shaping of waveforms</a:t>
            </a:r>
          </a:p>
          <a:p>
            <a:r>
              <a:rPr lang="en-US" dirty="0">
                <a:latin typeface="Times New Roman" panose="02020603050405020304" pitchFamily="18" charset="0"/>
                <a:cs typeface="Times New Roman" panose="02020603050405020304" pitchFamily="18" charset="0"/>
              </a:rPr>
              <a:t>Used for the protection of circuits from spikes</a:t>
            </a:r>
          </a:p>
          <a:p>
            <a:r>
              <a:rPr lang="en-US" dirty="0">
                <a:latin typeface="Times New Roman" panose="02020603050405020304" pitchFamily="18" charset="0"/>
                <a:cs typeface="Times New Roman" panose="02020603050405020304" pitchFamily="18" charset="0"/>
              </a:rPr>
              <a:t>Used for amplitude restorers</a:t>
            </a:r>
          </a:p>
          <a:p>
            <a:r>
              <a:rPr lang="en-US" dirty="0">
                <a:latin typeface="Times New Roman" panose="02020603050405020304" pitchFamily="18" charset="0"/>
                <a:cs typeface="Times New Roman" panose="02020603050405020304" pitchFamily="18" charset="0"/>
              </a:rPr>
              <a:t>Used as voltage limiters</a:t>
            </a:r>
          </a:p>
          <a:p>
            <a:r>
              <a:rPr lang="en-US" dirty="0">
                <a:latin typeface="Times New Roman" panose="02020603050405020304" pitchFamily="18" charset="0"/>
                <a:cs typeface="Times New Roman" panose="02020603050405020304" pitchFamily="18" charset="0"/>
              </a:rPr>
              <a:t>Used in television circuits</a:t>
            </a:r>
          </a:p>
          <a:p>
            <a:r>
              <a:rPr lang="en-US" dirty="0">
                <a:latin typeface="Times New Roman" panose="02020603050405020304" pitchFamily="18" charset="0"/>
                <a:cs typeface="Times New Roman" panose="02020603050405020304" pitchFamily="18" charset="0"/>
              </a:rPr>
              <a:t>Used in FM transmitters</a:t>
            </a:r>
          </a:p>
          <a:p>
            <a:endParaRPr lang="en-IN" dirty="0"/>
          </a:p>
        </p:txBody>
      </p:sp>
    </p:spTree>
    <p:extLst>
      <p:ext uri="{BB962C8B-B14F-4D97-AF65-F5344CB8AC3E}">
        <p14:creationId xmlns:p14="http://schemas.microsoft.com/office/powerpoint/2010/main" val="394379109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03462" y="472883"/>
            <a:ext cx="9144000" cy="356059"/>
          </a:xfrm>
        </p:spPr>
        <p:txBody>
          <a:bodyPr>
            <a:normAutofit fontScale="90000"/>
          </a:bodyPr>
          <a:lstStyle/>
          <a:p>
            <a:r>
              <a:rPr lang="en-US" sz="3200" b="1" dirty="0" smtClean="0">
                <a:solidFill>
                  <a:srgbClr val="7030A0"/>
                </a:solidFill>
              </a:rPr>
              <a:t>PN Diode Clippers</a:t>
            </a:r>
            <a:endParaRPr lang="en-IN" sz="3200" b="1" dirty="0">
              <a:solidFill>
                <a:srgbClr val="7030A0"/>
              </a:solidFill>
            </a:endParaRPr>
          </a:p>
        </p:txBody>
      </p:sp>
      <p:pic>
        <p:nvPicPr>
          <p:cNvPr id="4" name="Picture 3"/>
          <p:cNvPicPr>
            <a:picLocks noChangeAspect="1"/>
          </p:cNvPicPr>
          <p:nvPr/>
        </p:nvPicPr>
        <p:blipFill>
          <a:blip r:embed="rId2"/>
          <a:stretch>
            <a:fillRect/>
          </a:stretch>
        </p:blipFill>
        <p:spPr>
          <a:xfrm>
            <a:off x="794758" y="710190"/>
            <a:ext cx="6795340" cy="2469735"/>
          </a:xfrm>
          <a:prstGeom prst="rect">
            <a:avLst/>
          </a:prstGeom>
        </p:spPr>
      </p:pic>
      <p:sp>
        <p:nvSpPr>
          <p:cNvPr id="3" name="Subtitle 2"/>
          <p:cNvSpPr>
            <a:spLocks noGrp="1"/>
          </p:cNvSpPr>
          <p:nvPr>
            <p:ph type="subTitle" idx="1"/>
          </p:nvPr>
        </p:nvSpPr>
        <p:spPr>
          <a:xfrm>
            <a:off x="1247686" y="5640290"/>
            <a:ext cx="9144000" cy="1655762"/>
          </a:xfrm>
        </p:spPr>
        <p:txBody>
          <a:bodyPr/>
          <a:lstStyle/>
          <a:p>
            <a:endParaRPr lang="en-IN" dirty="0"/>
          </a:p>
        </p:txBody>
      </p:sp>
      <p:pic>
        <p:nvPicPr>
          <p:cNvPr id="6" name="Picture 5"/>
          <p:cNvPicPr>
            <a:picLocks noChangeAspect="1"/>
          </p:cNvPicPr>
          <p:nvPr/>
        </p:nvPicPr>
        <p:blipFill>
          <a:blip r:embed="rId3"/>
          <a:stretch>
            <a:fillRect/>
          </a:stretch>
        </p:blipFill>
        <p:spPr>
          <a:xfrm>
            <a:off x="8116088" y="472883"/>
            <a:ext cx="3434644" cy="3196127"/>
          </a:xfrm>
          <a:prstGeom prst="rect">
            <a:avLst/>
          </a:prstGeom>
        </p:spPr>
      </p:pic>
      <p:sp>
        <p:nvSpPr>
          <p:cNvPr id="8" name="Rectangle 7"/>
          <p:cNvSpPr/>
          <p:nvPr/>
        </p:nvSpPr>
        <p:spPr>
          <a:xfrm>
            <a:off x="589659" y="3471752"/>
            <a:ext cx="11049713" cy="3139321"/>
          </a:xfrm>
          <a:prstGeom prst="rect">
            <a:avLst/>
          </a:prstGeom>
        </p:spPr>
        <p:txBody>
          <a:bodyPr wrap="square">
            <a:spAutoFit/>
          </a:bodyPr>
          <a:lstStyle/>
          <a:p>
            <a:pPr marL="285750" indent="-285750" algn="just">
              <a:buFont typeface="Wingdings" panose="05000000000000000000" pitchFamily="2" charset="2"/>
              <a:buChar char="Ø"/>
            </a:pPr>
            <a:r>
              <a:rPr lang="en-US" b="0" i="0" dirty="0" smtClean="0">
                <a:solidFill>
                  <a:srgbClr val="414042"/>
                </a:solidFill>
                <a:effectLst/>
                <a:latin typeface="Times New Roman" panose="02020603050405020304" pitchFamily="18" charset="0"/>
                <a:cs typeface="Times New Roman" panose="02020603050405020304" pitchFamily="18" charset="0"/>
              </a:rPr>
              <a:t>In this diode clipping circuit, the diode is forward biased (anode more positive than cathode) during the positive half cycle of the sinusoidal input waveform. For the diode to become forward biased, it must have the input voltage magnitude greater than +0.7 volts (0.3 volts for a germanium diode).</a:t>
            </a:r>
          </a:p>
          <a:p>
            <a:pPr algn="just"/>
            <a:endParaRPr lang="en-US" b="0" i="0" dirty="0" smtClean="0">
              <a:solidFill>
                <a:srgbClr val="414042"/>
              </a:solidFill>
              <a:effectLst/>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b="0" i="0" dirty="0" smtClean="0">
                <a:solidFill>
                  <a:srgbClr val="414042"/>
                </a:solidFill>
                <a:effectLst/>
                <a:latin typeface="Times New Roman" panose="02020603050405020304" pitchFamily="18" charset="0"/>
                <a:cs typeface="Times New Roman" panose="02020603050405020304" pitchFamily="18" charset="0"/>
              </a:rPr>
              <a:t>The diode begins to conduct and holds the voltage across itself constant at 0.7V until the sinusoidal waveform falls below this value. The output voltage across the diode can never exceed 0.7 volts during the positive half cycle.</a:t>
            </a:r>
          </a:p>
          <a:p>
            <a:pPr algn="just"/>
            <a:endParaRPr lang="en-US" b="0" i="0" dirty="0" smtClean="0">
              <a:solidFill>
                <a:srgbClr val="414042"/>
              </a:solidFill>
              <a:effectLst/>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b="0" i="0" dirty="0" smtClean="0">
                <a:solidFill>
                  <a:srgbClr val="414042"/>
                </a:solidFill>
                <a:effectLst/>
                <a:latin typeface="Times New Roman" panose="02020603050405020304" pitchFamily="18" charset="0"/>
                <a:cs typeface="Times New Roman" panose="02020603050405020304" pitchFamily="18" charset="0"/>
              </a:rPr>
              <a:t>During the negative half cycle, the diode is reverse biased (cathode more positive than anode) blocking current flow through itself and as a result has no effect on the negative half of the sinusoidal voltage which passes to the load unaltered. Thus the diode limits the positive half of the input waveform and is known as a positive clipper circuit.</a:t>
            </a:r>
            <a:endParaRPr lang="en-US" b="0" i="0" dirty="0">
              <a:solidFill>
                <a:srgbClr val="414042"/>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28484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444383" y="649516"/>
            <a:ext cx="6034710" cy="2365809"/>
          </a:xfrm>
          <a:prstGeom prst="rect">
            <a:avLst/>
          </a:prstGeom>
        </p:spPr>
      </p:pic>
      <p:pic>
        <p:nvPicPr>
          <p:cNvPr id="5" name="Picture 4"/>
          <p:cNvPicPr>
            <a:picLocks noChangeAspect="1"/>
          </p:cNvPicPr>
          <p:nvPr/>
        </p:nvPicPr>
        <p:blipFill>
          <a:blip r:embed="rId3"/>
          <a:stretch>
            <a:fillRect/>
          </a:stretch>
        </p:blipFill>
        <p:spPr>
          <a:xfrm>
            <a:off x="8203963" y="711324"/>
            <a:ext cx="2726108" cy="2304001"/>
          </a:xfrm>
          <a:prstGeom prst="rect">
            <a:avLst/>
          </a:prstGeom>
        </p:spPr>
      </p:pic>
      <p:sp>
        <p:nvSpPr>
          <p:cNvPr id="6" name="Rectangle 5"/>
          <p:cNvSpPr/>
          <p:nvPr/>
        </p:nvSpPr>
        <p:spPr>
          <a:xfrm>
            <a:off x="632389" y="3637153"/>
            <a:ext cx="10297682" cy="1754326"/>
          </a:xfrm>
          <a:prstGeom prst="rect">
            <a:avLst/>
          </a:prstGeom>
        </p:spPr>
        <p:txBody>
          <a:bodyPr wrap="square">
            <a:spAutoFit/>
          </a:bodyPr>
          <a:lstStyle/>
          <a:p>
            <a:pPr algn="just"/>
            <a:r>
              <a:rPr lang="en-US" b="0" i="0" dirty="0" smtClean="0">
                <a:solidFill>
                  <a:srgbClr val="414042"/>
                </a:solidFill>
                <a:effectLst/>
                <a:latin typeface="Lato"/>
              </a:rPr>
              <a:t>The diode is forward biased during the negative half cycle of the sinusoidal waveform and limits or clips it to –0.7 volts while allowing the positive half cycle to pass unaltered when reverse biased. </a:t>
            </a:r>
          </a:p>
          <a:p>
            <a:pPr algn="just"/>
            <a:endParaRPr lang="en-US" dirty="0">
              <a:solidFill>
                <a:srgbClr val="414042"/>
              </a:solidFill>
              <a:latin typeface="Lato"/>
            </a:endParaRPr>
          </a:p>
          <a:p>
            <a:endParaRPr lang="en-US" b="0" i="0" dirty="0" smtClean="0">
              <a:solidFill>
                <a:srgbClr val="414042"/>
              </a:solidFill>
              <a:effectLst/>
              <a:latin typeface="Lato"/>
            </a:endParaRPr>
          </a:p>
          <a:p>
            <a:r>
              <a:rPr lang="en-US" b="0" i="0" dirty="0" smtClean="0">
                <a:solidFill>
                  <a:srgbClr val="414042"/>
                </a:solidFill>
                <a:effectLst/>
                <a:latin typeface="Lato"/>
              </a:rPr>
              <a:t>As the diode limits the negative half cycle of the input voltage it is therefore called a negative clipper circuit.</a:t>
            </a:r>
            <a:endParaRPr lang="en-IN" dirty="0"/>
          </a:p>
        </p:txBody>
      </p:sp>
    </p:spTree>
    <p:extLst>
      <p:ext uri="{BB962C8B-B14F-4D97-AF65-F5344CB8AC3E}">
        <p14:creationId xmlns:p14="http://schemas.microsoft.com/office/powerpoint/2010/main" val="102328955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Clipping of Both Half Cycles</a:t>
            </a:r>
            <a:br>
              <a:rPr lang="en-US" sz="2800" b="1" dirty="0"/>
            </a:br>
            <a:endParaRPr lang="en-IN" sz="2800" dirty="0"/>
          </a:p>
        </p:txBody>
      </p:sp>
      <p:pic>
        <p:nvPicPr>
          <p:cNvPr id="4" name="Content Placeholder 3"/>
          <p:cNvPicPr>
            <a:picLocks noGrp="1" noChangeAspect="1"/>
          </p:cNvPicPr>
          <p:nvPr>
            <p:ph idx="1"/>
          </p:nvPr>
        </p:nvPicPr>
        <p:blipFill>
          <a:blip r:embed="rId2"/>
          <a:stretch>
            <a:fillRect/>
          </a:stretch>
        </p:blipFill>
        <p:spPr>
          <a:xfrm>
            <a:off x="1102407" y="1690688"/>
            <a:ext cx="5385837" cy="2103609"/>
          </a:xfrm>
          <a:prstGeom prst="rect">
            <a:avLst/>
          </a:prstGeom>
        </p:spPr>
      </p:pic>
      <p:sp>
        <p:nvSpPr>
          <p:cNvPr id="5" name="Rectangle 4"/>
          <p:cNvSpPr/>
          <p:nvPr/>
        </p:nvSpPr>
        <p:spPr>
          <a:xfrm>
            <a:off x="85457" y="4404508"/>
            <a:ext cx="11340269" cy="1338828"/>
          </a:xfrm>
          <a:prstGeom prst="rect">
            <a:avLst/>
          </a:prstGeom>
        </p:spPr>
        <p:txBody>
          <a:bodyPr wrap="square">
            <a:spAutoFit/>
          </a:bodyPr>
          <a:lstStyle/>
          <a:p>
            <a:pPr algn="just">
              <a:lnSpc>
                <a:spcPct val="150000"/>
              </a:lnSpc>
            </a:pPr>
            <a:r>
              <a:rPr lang="en-US" b="0" i="0" dirty="0" smtClean="0">
                <a:solidFill>
                  <a:srgbClr val="414042"/>
                </a:solidFill>
                <a:effectLst/>
                <a:latin typeface="Lato"/>
              </a:rPr>
              <a:t>If two diodes in inverse parallel as shown, then both the positive and negative half cycles would be clipped as diode </a:t>
            </a:r>
            <a:r>
              <a:rPr lang="en-US" b="0" i="0" u="none" strike="noStrike" dirty="0" smtClean="0">
                <a:solidFill>
                  <a:srgbClr val="414143"/>
                </a:solidFill>
                <a:effectLst/>
                <a:latin typeface="Lato"/>
              </a:rPr>
              <a:t>D</a:t>
            </a:r>
            <a:r>
              <a:rPr lang="en-US" b="0" i="0" u="none" strike="noStrike" baseline="-25000" dirty="0" smtClean="0">
                <a:solidFill>
                  <a:srgbClr val="414143"/>
                </a:solidFill>
                <a:effectLst/>
                <a:latin typeface="Lato"/>
              </a:rPr>
              <a:t>1</a:t>
            </a:r>
            <a:r>
              <a:rPr lang="en-US" b="0" i="0" dirty="0" smtClean="0">
                <a:solidFill>
                  <a:srgbClr val="414042"/>
                </a:solidFill>
                <a:effectLst/>
                <a:latin typeface="Lato"/>
              </a:rPr>
              <a:t> clips the positive half cycle of the sinusoidal input waveform while diode </a:t>
            </a:r>
            <a:r>
              <a:rPr lang="en-US" b="0" i="0" u="none" strike="noStrike" dirty="0" smtClean="0">
                <a:solidFill>
                  <a:srgbClr val="414143"/>
                </a:solidFill>
                <a:effectLst/>
                <a:latin typeface="Lato"/>
              </a:rPr>
              <a:t>D</a:t>
            </a:r>
            <a:r>
              <a:rPr lang="en-US" b="0" i="0" u="none" strike="noStrike" baseline="-25000" dirty="0" smtClean="0">
                <a:solidFill>
                  <a:srgbClr val="414143"/>
                </a:solidFill>
                <a:effectLst/>
                <a:latin typeface="Lato"/>
              </a:rPr>
              <a:t>2</a:t>
            </a:r>
            <a:r>
              <a:rPr lang="en-US" b="0" i="0" dirty="0" smtClean="0">
                <a:solidFill>
                  <a:srgbClr val="414042"/>
                </a:solidFill>
                <a:effectLst/>
                <a:latin typeface="Lato"/>
              </a:rPr>
              <a:t> clips the negative half cycle. T</a:t>
            </a:r>
            <a:endParaRPr lang="en-IN" dirty="0"/>
          </a:p>
        </p:txBody>
      </p:sp>
      <p:pic>
        <p:nvPicPr>
          <p:cNvPr id="6" name="Picture 5"/>
          <p:cNvPicPr>
            <a:picLocks noChangeAspect="1"/>
          </p:cNvPicPr>
          <p:nvPr/>
        </p:nvPicPr>
        <p:blipFill>
          <a:blip r:embed="rId3"/>
          <a:stretch>
            <a:fillRect/>
          </a:stretch>
        </p:blipFill>
        <p:spPr>
          <a:xfrm>
            <a:off x="7648486" y="1809171"/>
            <a:ext cx="2701561" cy="2356681"/>
          </a:xfrm>
          <a:prstGeom prst="rect">
            <a:avLst/>
          </a:prstGeom>
        </p:spPr>
      </p:pic>
    </p:spTree>
    <p:extLst>
      <p:ext uri="{BB962C8B-B14F-4D97-AF65-F5344CB8AC3E}">
        <p14:creationId xmlns:p14="http://schemas.microsoft.com/office/powerpoint/2010/main" val="168700607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1717705" y="2161929"/>
            <a:ext cx="8374878" cy="3067162"/>
          </a:xfrm>
          <a:prstGeom prst="rect">
            <a:avLst/>
          </a:prstGeom>
        </p:spPr>
      </p:pic>
    </p:spTree>
    <p:extLst>
      <p:ext uri="{BB962C8B-B14F-4D97-AF65-F5344CB8AC3E}">
        <p14:creationId xmlns:p14="http://schemas.microsoft.com/office/powerpoint/2010/main" val="20961429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US" dirty="0" smtClean="0"/>
          </a:p>
          <a:p>
            <a:endParaRPr lang="en-US" dirty="0"/>
          </a:p>
          <a:p>
            <a:endParaRPr lang="en-US" dirty="0" smtClean="0"/>
          </a:p>
          <a:p>
            <a:pPr marL="0" indent="0" algn="ctr">
              <a:buNone/>
            </a:pPr>
            <a:r>
              <a:rPr lang="en-US" sz="6600" dirty="0" smtClean="0">
                <a:solidFill>
                  <a:srgbClr val="C00000"/>
                </a:solidFill>
              </a:rPr>
              <a:t>__V__L _ _C__E</a:t>
            </a:r>
            <a:endParaRPr lang="en-IN" sz="6600" dirty="0">
              <a:solidFill>
                <a:srgbClr val="C00000"/>
              </a:solidFill>
            </a:endParaRPr>
          </a:p>
        </p:txBody>
      </p:sp>
    </p:spTree>
    <p:extLst>
      <p:ext uri="{BB962C8B-B14F-4D97-AF65-F5344CB8AC3E}">
        <p14:creationId xmlns:p14="http://schemas.microsoft.com/office/powerpoint/2010/main" val="15019070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endParaRPr lang="en-US" dirty="0" smtClean="0"/>
          </a:p>
          <a:p>
            <a:pPr marL="0" indent="0">
              <a:buNone/>
            </a:pPr>
            <a:endParaRPr lang="en-US" dirty="0"/>
          </a:p>
          <a:p>
            <a:pPr marL="0" indent="0">
              <a:buNone/>
            </a:pPr>
            <a:endParaRPr lang="en-US" dirty="0" smtClean="0"/>
          </a:p>
          <a:p>
            <a:pPr marL="0" indent="0" algn="ctr">
              <a:buNone/>
            </a:pPr>
            <a:r>
              <a:rPr lang="en-US" sz="6600" dirty="0" smtClean="0">
                <a:solidFill>
                  <a:srgbClr val="C00000"/>
                </a:solidFill>
              </a:rPr>
              <a:t>S_I_CH</a:t>
            </a:r>
            <a:endParaRPr lang="en-IN" sz="6600" dirty="0">
              <a:solidFill>
                <a:srgbClr val="C00000"/>
              </a:solidFill>
            </a:endParaRPr>
          </a:p>
        </p:txBody>
      </p:sp>
    </p:spTree>
    <p:extLst>
      <p:ext uri="{BB962C8B-B14F-4D97-AF65-F5344CB8AC3E}">
        <p14:creationId xmlns:p14="http://schemas.microsoft.com/office/powerpoint/2010/main" val="404700870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0" indent="0" algn="ctr">
              <a:buNone/>
            </a:pPr>
            <a:endParaRPr lang="en-US" sz="6600" dirty="0" smtClean="0">
              <a:solidFill>
                <a:srgbClr val="C00000"/>
              </a:solidFill>
            </a:endParaRPr>
          </a:p>
          <a:p>
            <a:pPr marL="0" indent="0" algn="ctr">
              <a:buNone/>
            </a:pPr>
            <a:r>
              <a:rPr lang="en-US" sz="6600" dirty="0" smtClean="0">
                <a:solidFill>
                  <a:srgbClr val="C00000"/>
                </a:solidFill>
              </a:rPr>
              <a:t>R_ _I_ _ER</a:t>
            </a:r>
            <a:endParaRPr lang="en-IN" sz="6600" dirty="0">
              <a:solidFill>
                <a:srgbClr val="C00000"/>
              </a:solidFill>
            </a:endParaRPr>
          </a:p>
        </p:txBody>
      </p:sp>
    </p:spTree>
    <p:extLst>
      <p:ext uri="{BB962C8B-B14F-4D97-AF65-F5344CB8AC3E}">
        <p14:creationId xmlns:p14="http://schemas.microsoft.com/office/powerpoint/2010/main" val="267775176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normAutofit/>
          </a:bodyPr>
          <a:lstStyle/>
          <a:p>
            <a:pPr marL="0" indent="0" algn="ctr">
              <a:buNone/>
            </a:pPr>
            <a:endParaRPr lang="en-US" sz="6600" dirty="0" smtClean="0">
              <a:solidFill>
                <a:srgbClr val="C00000"/>
              </a:solidFill>
            </a:endParaRPr>
          </a:p>
          <a:p>
            <a:pPr marL="0" indent="0" algn="ctr">
              <a:buNone/>
            </a:pPr>
            <a:r>
              <a:rPr lang="en-US" sz="6600" dirty="0" smtClean="0">
                <a:solidFill>
                  <a:srgbClr val="C00000"/>
                </a:solidFill>
              </a:rPr>
              <a:t>_ _ PP_E</a:t>
            </a:r>
            <a:endParaRPr lang="en-IN" sz="6600" dirty="0">
              <a:solidFill>
                <a:srgbClr val="C00000"/>
              </a:solidFill>
            </a:endParaRPr>
          </a:p>
        </p:txBody>
      </p:sp>
    </p:spTree>
    <p:extLst>
      <p:ext uri="{BB962C8B-B14F-4D97-AF65-F5344CB8AC3E}">
        <p14:creationId xmlns:p14="http://schemas.microsoft.com/office/powerpoint/2010/main" val="249162228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0" indent="0">
              <a:buNone/>
            </a:pPr>
            <a:endParaRPr lang="en-US" sz="6600" dirty="0" smtClean="0"/>
          </a:p>
          <a:p>
            <a:pPr marL="0" indent="0">
              <a:buNone/>
            </a:pPr>
            <a:endParaRPr lang="en-US" sz="6600" dirty="0"/>
          </a:p>
          <a:p>
            <a:pPr marL="0" indent="0" algn="ctr">
              <a:buNone/>
            </a:pPr>
            <a:r>
              <a:rPr lang="en-US" sz="6600" dirty="0" smtClean="0">
                <a:solidFill>
                  <a:srgbClr val="C00000"/>
                </a:solidFill>
              </a:rPr>
              <a:t>R__C__I __ __ E__</a:t>
            </a:r>
            <a:endParaRPr lang="en-IN" sz="6600" dirty="0">
              <a:solidFill>
                <a:srgbClr val="C00000"/>
              </a:solidFill>
            </a:endParaRPr>
          </a:p>
        </p:txBody>
      </p:sp>
    </p:spTree>
    <p:extLst>
      <p:ext uri="{BB962C8B-B14F-4D97-AF65-F5344CB8AC3E}">
        <p14:creationId xmlns:p14="http://schemas.microsoft.com/office/powerpoint/2010/main" val="109894477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US" dirty="0" smtClean="0"/>
          </a:p>
          <a:p>
            <a:endParaRPr lang="en-US" dirty="0"/>
          </a:p>
          <a:p>
            <a:endParaRPr lang="en-US" dirty="0" smtClean="0"/>
          </a:p>
          <a:p>
            <a:pPr marL="0" indent="0">
              <a:buNone/>
            </a:pPr>
            <a:endParaRPr lang="en-IN" dirty="0"/>
          </a:p>
        </p:txBody>
      </p:sp>
      <p:sp>
        <p:nvSpPr>
          <p:cNvPr id="4" name="Rectangle 3"/>
          <p:cNvSpPr/>
          <p:nvPr/>
        </p:nvSpPr>
        <p:spPr>
          <a:xfrm>
            <a:off x="2435551" y="3244334"/>
            <a:ext cx="4618403" cy="769441"/>
          </a:xfrm>
          <a:prstGeom prst="rect">
            <a:avLst/>
          </a:prstGeom>
        </p:spPr>
        <p:txBody>
          <a:bodyPr wrap="square">
            <a:spAutoFit/>
          </a:bodyPr>
          <a:lstStyle/>
          <a:p>
            <a:pPr algn="ctr"/>
            <a:r>
              <a:rPr lang="en-US" sz="4400" dirty="0" smtClean="0">
                <a:solidFill>
                  <a:srgbClr val="C00000"/>
                </a:solidFill>
              </a:rPr>
              <a:t>D__ __ L_T </a:t>
            </a:r>
            <a:r>
              <a:rPr lang="en-US" sz="4400" dirty="0">
                <a:solidFill>
                  <a:srgbClr val="C00000"/>
                </a:solidFill>
              </a:rPr>
              <a:t>__ __ </a:t>
            </a:r>
            <a:r>
              <a:rPr lang="en-US" sz="4400" dirty="0" smtClean="0">
                <a:solidFill>
                  <a:srgbClr val="C00000"/>
                </a:solidFill>
              </a:rPr>
              <a:t>N</a:t>
            </a:r>
            <a:endParaRPr lang="en-IN" sz="4400" dirty="0">
              <a:solidFill>
                <a:srgbClr val="C00000"/>
              </a:solidFill>
            </a:endParaRPr>
          </a:p>
        </p:txBody>
      </p:sp>
    </p:spTree>
    <p:extLst>
      <p:ext uri="{BB962C8B-B14F-4D97-AF65-F5344CB8AC3E}">
        <p14:creationId xmlns:p14="http://schemas.microsoft.com/office/powerpoint/2010/main" val="236025359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dirty="0" smtClean="0">
                <a:solidFill>
                  <a:srgbClr val="C00000"/>
                </a:solidFill>
                <a:latin typeface="Times New Roman" panose="02020603050405020304" pitchFamily="18" charset="0"/>
                <a:cs typeface="Times New Roman" panose="02020603050405020304" pitchFamily="18" charset="0"/>
              </a:rPr>
              <a:t>Clampers</a:t>
            </a:r>
            <a:br>
              <a:rPr lang="en-US" sz="3200" dirty="0" smtClean="0">
                <a:solidFill>
                  <a:srgbClr val="C00000"/>
                </a:solidFill>
                <a:latin typeface="Times New Roman" panose="02020603050405020304" pitchFamily="18" charset="0"/>
                <a:cs typeface="Times New Roman" panose="02020603050405020304" pitchFamily="18" charset="0"/>
              </a:rPr>
            </a:br>
            <a:endParaRPr lang="en-IN" sz="3200"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Used </a:t>
            </a:r>
            <a:r>
              <a:rPr lang="en-US" dirty="0">
                <a:latin typeface="Times New Roman" panose="02020603050405020304" pitchFamily="18" charset="0"/>
                <a:cs typeface="Times New Roman" panose="02020603050405020304" pitchFamily="18" charset="0"/>
              </a:rPr>
              <a:t>as direct current restorers</a:t>
            </a:r>
          </a:p>
          <a:p>
            <a:r>
              <a:rPr lang="en-US" dirty="0">
                <a:latin typeface="Times New Roman" panose="02020603050405020304" pitchFamily="18" charset="0"/>
                <a:cs typeface="Times New Roman" panose="02020603050405020304" pitchFamily="18" charset="0"/>
              </a:rPr>
              <a:t>Used to remove distortions</a:t>
            </a:r>
          </a:p>
          <a:p>
            <a:r>
              <a:rPr lang="en-US" dirty="0">
                <a:latin typeface="Times New Roman" panose="02020603050405020304" pitchFamily="18" charset="0"/>
                <a:cs typeface="Times New Roman" panose="02020603050405020304" pitchFamily="18" charset="0"/>
              </a:rPr>
              <a:t>Used as voltage multipliers</a:t>
            </a:r>
          </a:p>
          <a:p>
            <a:r>
              <a:rPr lang="en-US" dirty="0">
                <a:latin typeface="Times New Roman" panose="02020603050405020304" pitchFamily="18" charset="0"/>
                <a:cs typeface="Times New Roman" panose="02020603050405020304" pitchFamily="18" charset="0"/>
              </a:rPr>
              <a:t>Used for the protection of amplifiers</a:t>
            </a:r>
          </a:p>
          <a:p>
            <a:r>
              <a:rPr lang="en-US" dirty="0">
                <a:latin typeface="Times New Roman" panose="02020603050405020304" pitchFamily="18" charset="0"/>
                <a:cs typeface="Times New Roman" panose="02020603050405020304" pitchFamily="18" charset="0"/>
              </a:rPr>
              <a:t>Used as test equipment</a:t>
            </a:r>
          </a:p>
          <a:p>
            <a:r>
              <a:rPr lang="en-US" dirty="0">
                <a:latin typeface="Times New Roman" panose="02020603050405020304" pitchFamily="18" charset="0"/>
                <a:cs typeface="Times New Roman" panose="02020603050405020304" pitchFamily="18" charset="0"/>
              </a:rPr>
              <a:t>Used as base-line stabilizer</a:t>
            </a:r>
          </a:p>
          <a:p>
            <a:endParaRPr lang="en-IN" dirty="0"/>
          </a:p>
        </p:txBody>
      </p:sp>
    </p:spTree>
    <p:extLst>
      <p:ext uri="{BB962C8B-B14F-4D97-AF65-F5344CB8AC3E}">
        <p14:creationId xmlns:p14="http://schemas.microsoft.com/office/powerpoint/2010/main" val="156892778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dirty="0" smtClean="0">
                <a:solidFill>
                  <a:srgbClr val="7030A0"/>
                </a:solidFill>
                <a:latin typeface="Times New Roman" panose="02020603050405020304" pitchFamily="18" charset="0"/>
                <a:cs typeface="Times New Roman" panose="02020603050405020304" pitchFamily="18" charset="0"/>
              </a:rPr>
              <a:t>PN Diode – Clamping Circuits</a:t>
            </a:r>
            <a:endParaRPr lang="en-IN" sz="2800" dirty="0">
              <a:solidFill>
                <a:srgbClr val="7030A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A Clamper Circuit is a circuit that adds a DC level to an AC signal. Actually, the positive and negative peaks of the signals can be placed at desired levels using the clamping circuits. As the DC level gets shifted, a clamper circuit is called as a </a:t>
            </a:r>
            <a:r>
              <a:rPr lang="en-US" b="1" dirty="0">
                <a:latin typeface="Times New Roman" panose="02020603050405020304" pitchFamily="18" charset="0"/>
                <a:cs typeface="Times New Roman" panose="02020603050405020304" pitchFamily="18" charset="0"/>
              </a:rPr>
              <a:t>Level Shifter</a:t>
            </a:r>
            <a:r>
              <a:rPr lang="en-US" dirty="0" smtClean="0">
                <a:latin typeface="Times New Roman" panose="02020603050405020304" pitchFamily="18" charset="0"/>
                <a:cs typeface="Times New Roman" panose="02020603050405020304" pitchFamily="18" charset="0"/>
              </a:rPr>
              <a:t>.</a:t>
            </a:r>
          </a:p>
          <a:p>
            <a:pPr algn="just"/>
            <a:endParaRPr lang="en-US" dirty="0" smtClean="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 Clamper circuit can be defined as the circuit that consists of a diode, a resistor and a capacitor that shifts the waveform to a desired DC level without changing the actual appearance of the applied signal.</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989708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51511"/>
            <a:ext cx="10515600" cy="1325563"/>
          </a:xfrm>
        </p:spPr>
        <p:txBody>
          <a:bodyPr>
            <a:normAutofit/>
          </a:bodyPr>
          <a:lstStyle/>
          <a:p>
            <a:pPr algn="ctr"/>
            <a:r>
              <a:rPr lang="en-IN" sz="2800" dirty="0">
                <a:solidFill>
                  <a:srgbClr val="7030A0"/>
                </a:solidFill>
                <a:latin typeface="Times New Roman" panose="02020603050405020304" pitchFamily="18" charset="0"/>
                <a:cs typeface="Times New Roman" panose="02020603050405020304" pitchFamily="18" charset="0"/>
              </a:rPr>
              <a:t>Positive Clamper Circuit</a:t>
            </a:r>
            <a:br>
              <a:rPr lang="en-IN" sz="2800" dirty="0">
                <a:solidFill>
                  <a:srgbClr val="7030A0"/>
                </a:solidFill>
                <a:latin typeface="Times New Roman" panose="02020603050405020304" pitchFamily="18" charset="0"/>
                <a:cs typeface="Times New Roman" panose="02020603050405020304" pitchFamily="18" charset="0"/>
              </a:rPr>
            </a:br>
            <a:endParaRPr lang="en-IN" sz="2800" dirty="0">
              <a:solidFill>
                <a:srgbClr val="7030A0"/>
              </a:solidFill>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stretch>
            <a:fillRect/>
          </a:stretch>
        </p:blipFill>
        <p:spPr>
          <a:xfrm>
            <a:off x="1469877" y="959540"/>
            <a:ext cx="8751605" cy="2886308"/>
          </a:xfrm>
          <a:prstGeom prst="rect">
            <a:avLst/>
          </a:prstGeom>
        </p:spPr>
      </p:pic>
      <p:sp>
        <p:nvSpPr>
          <p:cNvPr id="5" name="Rectangle 4"/>
          <p:cNvSpPr/>
          <p:nvPr/>
        </p:nvSpPr>
        <p:spPr>
          <a:xfrm>
            <a:off x="217917" y="3928533"/>
            <a:ext cx="11590946" cy="646331"/>
          </a:xfrm>
          <a:prstGeom prst="rect">
            <a:avLst/>
          </a:prstGeom>
        </p:spPr>
        <p:txBody>
          <a:bodyPr wrap="square">
            <a:spAutoFit/>
          </a:bodyPr>
          <a:lstStyle/>
          <a:p>
            <a:pPr marL="285750" indent="-285750">
              <a:buFont typeface="Wingdings" panose="05000000000000000000" pitchFamily="2" charset="2"/>
              <a:buChar char="Ø"/>
            </a:pPr>
            <a:r>
              <a:rPr lang="en-US" b="0" i="0" dirty="0" smtClean="0">
                <a:solidFill>
                  <a:srgbClr val="000000"/>
                </a:solidFill>
                <a:effectLst/>
                <a:latin typeface="Times New Roman" panose="02020603050405020304" pitchFamily="18" charset="0"/>
                <a:cs typeface="Times New Roman" panose="02020603050405020304" pitchFamily="18" charset="0"/>
              </a:rPr>
              <a:t>A Clamping circuit restores the DC level. When a negative peak of the signal is raised above to the zero level, then the signal is said to be </a:t>
            </a:r>
            <a:r>
              <a:rPr lang="en-US" b="1" i="0" dirty="0" smtClean="0">
                <a:solidFill>
                  <a:srgbClr val="000000"/>
                </a:solidFill>
                <a:effectLst/>
                <a:latin typeface="Times New Roman" panose="02020603050405020304" pitchFamily="18" charset="0"/>
                <a:cs typeface="Times New Roman" panose="02020603050405020304" pitchFamily="18" charset="0"/>
              </a:rPr>
              <a:t>positively clamped</a:t>
            </a:r>
            <a:r>
              <a:rPr lang="en-US" b="0" i="0" dirty="0" smtClean="0">
                <a:solidFill>
                  <a:srgbClr val="000000"/>
                </a:solidFill>
                <a:effectLst/>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6" name="Rectangle 1"/>
          <p:cNvSpPr>
            <a:spLocks noChangeArrowheads="1"/>
          </p:cNvSpPr>
          <p:nvPr/>
        </p:nvSpPr>
        <p:spPr bwMode="auto">
          <a:xfrm>
            <a:off x="217917" y="4713363"/>
            <a:ext cx="1129896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Initially when the input is given, the capacitor is not yet charged and the diode is reverse biased. The output is not considered at this point of time. During the negative half cycle, at the peak value, the capacitor gets charged with negative on one plate and positive on the other. The capacitor is now charged to its peak value </a:t>
            </a:r>
            <a:r>
              <a:rPr kumimoji="0" lang="en-US" altLang="en-US" b="0" i="0" u="none" strike="noStrike" cap="none" normalizeH="0" baseline="0" dirty="0" err="1" smtClean="0">
                <a:ln>
                  <a:noFill/>
                </a:ln>
                <a:solidFill>
                  <a:srgbClr val="000000"/>
                </a:solidFill>
                <a:effectLst/>
                <a:latin typeface="Times New Roman" panose="02020603050405020304" pitchFamily="18" charset="0"/>
                <a:cs typeface="Times New Roman" panose="02020603050405020304" pitchFamily="18" charset="0"/>
              </a:rPr>
              <a:t>Vm</a:t>
            </a:r>
            <a:r>
              <a:rPr kumimoji="0" lang="en-US" altLang="en-US"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 The diode is forward biased and conducts heavily.</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During the next positive half cycle, the capacitor is charged to positive </a:t>
            </a:r>
            <a:r>
              <a:rPr kumimoji="0" lang="en-US" altLang="en-US" b="0" i="0" u="none" strike="noStrike" cap="none" normalizeH="0" baseline="0" dirty="0" err="1" smtClean="0">
                <a:ln>
                  <a:noFill/>
                </a:ln>
                <a:solidFill>
                  <a:srgbClr val="000000"/>
                </a:solidFill>
                <a:effectLst/>
                <a:latin typeface="Times New Roman" panose="02020603050405020304" pitchFamily="18" charset="0"/>
                <a:cs typeface="Times New Roman" panose="02020603050405020304" pitchFamily="18" charset="0"/>
              </a:rPr>
              <a:t>Vm</a:t>
            </a:r>
            <a:r>
              <a:rPr kumimoji="0" lang="en-US" altLang="en-US"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 while the diode gets reverse biased and gets open circuited. The output of the circuit at this moment will be </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V0=</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Vi+Vm</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
            </a:r>
            <a:br>
              <a:rPr kumimoji="0" lang="en-US" altLang="en-US" sz="1800" b="0" i="0" u="none" strike="noStrike" cap="none" normalizeH="0" baseline="0" dirty="0" smtClean="0">
                <a:ln>
                  <a:noFill/>
                </a:ln>
                <a:solidFill>
                  <a:schemeClr val="tx1"/>
                </a:solidFill>
                <a:effectLst/>
                <a:latin typeface="Arial" panose="020B0604020202020204" pitchFamily="34" charset="0"/>
              </a:rPr>
            </a:b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8132181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601660" y="1690688"/>
            <a:ext cx="6134100" cy="1933575"/>
          </a:xfrm>
          <a:prstGeom prst="rect">
            <a:avLst/>
          </a:prstGeom>
        </p:spPr>
      </p:pic>
      <p:sp>
        <p:nvSpPr>
          <p:cNvPr id="5" name="Title 1"/>
          <p:cNvSpPr>
            <a:spLocks noGrp="1"/>
          </p:cNvSpPr>
          <p:nvPr>
            <p:ph type="title"/>
          </p:nvPr>
        </p:nvSpPr>
        <p:spPr/>
        <p:txBody>
          <a:bodyPr>
            <a:normAutofit/>
          </a:bodyPr>
          <a:lstStyle/>
          <a:p>
            <a:pPr algn="ctr"/>
            <a:r>
              <a:rPr lang="en-IN" sz="2800" dirty="0" smtClean="0">
                <a:solidFill>
                  <a:srgbClr val="7030A0"/>
                </a:solidFill>
                <a:latin typeface="Times New Roman" panose="02020603050405020304" pitchFamily="18" charset="0"/>
                <a:cs typeface="Times New Roman" panose="02020603050405020304" pitchFamily="18" charset="0"/>
              </a:rPr>
              <a:t>Negative Clamper </a:t>
            </a:r>
            <a:r>
              <a:rPr lang="en-IN" sz="2800" dirty="0">
                <a:solidFill>
                  <a:srgbClr val="7030A0"/>
                </a:solidFill>
                <a:latin typeface="Times New Roman" panose="02020603050405020304" pitchFamily="18" charset="0"/>
                <a:cs typeface="Times New Roman" panose="02020603050405020304" pitchFamily="18" charset="0"/>
              </a:rPr>
              <a:t>Circuit</a:t>
            </a:r>
            <a:br>
              <a:rPr lang="en-IN" sz="2800" dirty="0">
                <a:solidFill>
                  <a:srgbClr val="7030A0"/>
                </a:solidFill>
                <a:latin typeface="Times New Roman" panose="02020603050405020304" pitchFamily="18" charset="0"/>
                <a:cs typeface="Times New Roman" panose="02020603050405020304" pitchFamily="18" charset="0"/>
              </a:rPr>
            </a:br>
            <a:endParaRPr lang="en-IN" sz="2800" dirty="0">
              <a:solidFill>
                <a:srgbClr val="7030A0"/>
              </a:solidFill>
              <a:latin typeface="Times New Roman" panose="02020603050405020304" pitchFamily="18" charset="0"/>
              <a:cs typeface="Times New Roman" panose="02020603050405020304" pitchFamily="18" charset="0"/>
            </a:endParaRPr>
          </a:p>
        </p:txBody>
      </p:sp>
      <p:sp>
        <p:nvSpPr>
          <p:cNvPr id="6" name="Rectangle 5"/>
          <p:cNvSpPr/>
          <p:nvPr/>
        </p:nvSpPr>
        <p:spPr>
          <a:xfrm>
            <a:off x="717847" y="3700508"/>
            <a:ext cx="10571148" cy="646331"/>
          </a:xfrm>
          <a:prstGeom prst="rect">
            <a:avLst/>
          </a:prstGeom>
        </p:spPr>
        <p:txBody>
          <a:bodyPr wrap="square">
            <a:spAutoFit/>
          </a:bodyPr>
          <a:lstStyle/>
          <a:p>
            <a:r>
              <a:rPr lang="en-US" b="0" i="0" dirty="0" smtClean="0">
                <a:solidFill>
                  <a:srgbClr val="000000"/>
                </a:solidFill>
                <a:effectLst/>
                <a:latin typeface="Times New Roman" panose="02020603050405020304" pitchFamily="18" charset="0"/>
                <a:cs typeface="Times New Roman" panose="02020603050405020304" pitchFamily="18" charset="0"/>
              </a:rPr>
              <a:t>A Negative Clamper circuit is one that consists of a diode, a resistor and a capacitor and that shifts the output signal to the negative portion of the input signal.</a:t>
            </a:r>
            <a:endParaRPr lang="en-IN" dirty="0">
              <a:latin typeface="Times New Roman" panose="02020603050405020304" pitchFamily="18" charset="0"/>
              <a:cs typeface="Times New Roman" panose="02020603050405020304" pitchFamily="18" charset="0"/>
            </a:endParaRPr>
          </a:p>
        </p:txBody>
      </p:sp>
      <p:sp>
        <p:nvSpPr>
          <p:cNvPr id="7" name="Rectangle 1"/>
          <p:cNvSpPr>
            <a:spLocks noChangeArrowheads="1"/>
          </p:cNvSpPr>
          <p:nvPr/>
        </p:nvSpPr>
        <p:spPr bwMode="auto">
          <a:xfrm>
            <a:off x="640936" y="4864768"/>
            <a:ext cx="1054551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During the positive half cycle, the capacitor gets charged to its peak value </a:t>
            </a:r>
            <a:r>
              <a:rPr lang="en-US" altLang="en-US" dirty="0" err="1">
                <a:solidFill>
                  <a:srgbClr val="000000"/>
                </a:solidFill>
                <a:latin typeface="Times New Roman" panose="02020603050405020304" pitchFamily="18" charset="0"/>
                <a:cs typeface="Times New Roman" panose="02020603050405020304" pitchFamily="18" charset="0"/>
              </a:rPr>
              <a:t>V</a:t>
            </a:r>
            <a:r>
              <a:rPr kumimoji="0" lang="en-US" altLang="en-US" b="0" i="0" u="none" strike="noStrike" cap="none" normalizeH="0" baseline="0" dirty="0" err="1" smtClean="0">
                <a:ln>
                  <a:noFill/>
                </a:ln>
                <a:solidFill>
                  <a:srgbClr val="000000"/>
                </a:solidFill>
                <a:effectLst/>
                <a:latin typeface="Times New Roman" panose="02020603050405020304" pitchFamily="18" charset="0"/>
                <a:cs typeface="Times New Roman" panose="02020603050405020304" pitchFamily="18" charset="0"/>
              </a:rPr>
              <a:t>m</a:t>
            </a:r>
            <a:r>
              <a:rPr kumimoji="0" lang="en-US" altLang="en-US"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 The diode is forward biased and conducts. During the negative half cycle, the diode gets reverse biased and gets open circuited. The output of the circuit at this moment will be </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V0=</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Vi+Vm</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rPr>
              <a:t>Hence the signal is negatively clamped</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651483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2800" b="1" dirty="0">
                <a:solidFill>
                  <a:srgbClr val="7030A0"/>
                </a:solidFill>
                <a:latin typeface="Times New Roman" panose="02020603050405020304" pitchFamily="18" charset="0"/>
                <a:cs typeface="Times New Roman" panose="02020603050405020304" pitchFamily="18" charset="0"/>
              </a:rPr>
              <a:t>Diode Current Equation</a:t>
            </a:r>
            <a:br>
              <a:rPr lang="en-IN" sz="2800" b="1" dirty="0">
                <a:solidFill>
                  <a:srgbClr val="7030A0"/>
                </a:solidFill>
                <a:latin typeface="Times New Roman" panose="02020603050405020304" pitchFamily="18" charset="0"/>
                <a:cs typeface="Times New Roman" panose="02020603050405020304" pitchFamily="18" charset="0"/>
              </a:rPr>
            </a:br>
            <a:endParaRPr lang="en-IN" sz="2800" dirty="0">
              <a:solidFill>
                <a:srgbClr val="7030A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607321" y="2679794"/>
            <a:ext cx="10515600" cy="4351338"/>
          </a:xfrm>
        </p:spPr>
        <p:txBody>
          <a:bodyPr/>
          <a:lstStyle/>
          <a:p>
            <a:endParaRPr lang="en-US" dirty="0" smtClean="0"/>
          </a:p>
          <a:p>
            <a:endParaRPr lang="en-US" dirty="0"/>
          </a:p>
          <a:p>
            <a:pPr marL="0" indent="0">
              <a:buNone/>
            </a:pPr>
            <a:r>
              <a:rPr lang="en-US" sz="2000" dirty="0">
                <a:latin typeface="Times New Roman" panose="02020603050405020304" pitchFamily="18" charset="0"/>
                <a:cs typeface="Times New Roman" panose="02020603050405020304" pitchFamily="18" charset="0"/>
              </a:rPr>
              <a:t>w</a:t>
            </a:r>
            <a:r>
              <a:rPr lang="en-US" sz="2000" dirty="0" smtClean="0">
                <a:latin typeface="Times New Roman" panose="02020603050405020304" pitchFamily="18" charset="0"/>
                <a:cs typeface="Times New Roman" panose="02020603050405020304" pitchFamily="18" charset="0"/>
              </a:rPr>
              <a:t>here,</a:t>
            </a: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4" name="Rectangle 1"/>
          <p:cNvSpPr>
            <a:spLocks noChangeArrowheads="1"/>
          </p:cNvSpPr>
          <p:nvPr/>
        </p:nvSpPr>
        <p:spPr bwMode="auto">
          <a:xfrm rot="10800000" flipV="1">
            <a:off x="1607320" y="1379123"/>
            <a:ext cx="9746479" cy="161223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diode current equation expresses the relationship between </a:t>
            </a:r>
            <a:r>
              <a:rPr lang="en-US" altLang="en-US" dirty="0" smtClean="0">
                <a:latin typeface="Times New Roman" panose="02020603050405020304" pitchFamily="18" charset="0"/>
                <a:cs typeface="Times New Roman" panose="02020603050405020304" pitchFamily="18" charset="0"/>
              </a:rPr>
              <a:t>the current </a:t>
            </a:r>
            <a:r>
              <a:rPr lang="en-US" altLang="en-US" dirty="0">
                <a:latin typeface="Times New Roman" panose="02020603050405020304" pitchFamily="18" charset="0"/>
                <a:cs typeface="Times New Roman" panose="02020603050405020304" pitchFamily="18" charset="0"/>
              </a:rPr>
              <a:t>flowing through the </a:t>
            </a:r>
            <a:r>
              <a:rPr lang="en-US" altLang="en-US" dirty="0" smtClean="0">
                <a:latin typeface="Times New Roman" panose="02020603050405020304" pitchFamily="18" charset="0"/>
                <a:cs typeface="Times New Roman" panose="02020603050405020304" pitchFamily="18" charset="0"/>
              </a:rPr>
              <a:t>diode </a:t>
            </a:r>
            <a:r>
              <a:rPr lang="en-US" altLang="en-US" dirty="0">
                <a:latin typeface="Times New Roman" panose="02020603050405020304" pitchFamily="18" charset="0"/>
                <a:cs typeface="Times New Roman" panose="02020603050405020304" pitchFamily="18" charset="0"/>
              </a:rPr>
              <a:t>as a function of the </a:t>
            </a:r>
            <a:r>
              <a:rPr lang="en-US" altLang="en-US" dirty="0" smtClean="0">
                <a:latin typeface="Times New Roman" panose="02020603050405020304" pitchFamily="18" charset="0"/>
                <a:cs typeface="Times New Roman" panose="02020603050405020304" pitchFamily="18" charset="0"/>
              </a:rPr>
              <a:t>voltage applied </a:t>
            </a:r>
            <a:r>
              <a:rPr lang="en-US" altLang="en-US" dirty="0">
                <a:latin typeface="Times New Roman" panose="02020603050405020304" pitchFamily="18" charset="0"/>
                <a:cs typeface="Times New Roman" panose="02020603050405020304" pitchFamily="18" charset="0"/>
              </a:rPr>
              <a:t>across it. </a:t>
            </a:r>
            <a:r>
              <a:rPr lang="en-US" altLang="en-US" dirty="0">
                <a:latin typeface="Times New Roman" panose="02020603050405020304" pitchFamily="18" charset="0"/>
                <a:cs typeface="Times New Roman" panose="02020603050405020304" pitchFamily="18" charset="0"/>
              </a:rPr>
              <a:t>Mathematically the diode current </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equation can be expressed as:</a:t>
            </a:r>
            <a:b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b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4460906" y="2307697"/>
            <a:ext cx="2711464" cy="1298216"/>
          </a:xfrm>
          <a:prstGeom prst="rect">
            <a:avLst/>
          </a:prstGeom>
        </p:spPr>
      </p:pic>
      <p:sp>
        <p:nvSpPr>
          <p:cNvPr id="6" name="Rectangle 3"/>
          <p:cNvSpPr>
            <a:spLocks noChangeArrowheads="1"/>
          </p:cNvSpPr>
          <p:nvPr/>
        </p:nvSpPr>
        <p:spPr bwMode="auto">
          <a:xfrm>
            <a:off x="2633330" y="3546437"/>
            <a:ext cx="6366616" cy="241604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latin typeface="Palatino Linotype" panose="02040502050505030304" pitchFamily="18" charset="0"/>
              </a:rPr>
              <a:t>I</a:t>
            </a:r>
            <a:r>
              <a:rPr kumimoji="0" lang="en-US" altLang="en-US" b="0" i="0" u="none" strike="noStrike" cap="none" normalizeH="0" baseline="-30000" dirty="0" smtClean="0">
                <a:ln>
                  <a:noFill/>
                </a:ln>
                <a:solidFill>
                  <a:schemeClr val="tx1"/>
                </a:solidFill>
                <a:effectLst/>
                <a:latin typeface="Palatino Linotype" panose="02040502050505030304" pitchFamily="18" charset="0"/>
              </a:rPr>
              <a:t>0</a:t>
            </a:r>
            <a:r>
              <a:rPr kumimoji="0" lang="en-US" altLang="en-US" b="0" i="0" u="none" strike="noStrike" cap="none" normalizeH="0" baseline="0" dirty="0" smtClean="0">
                <a:ln>
                  <a:noFill/>
                </a:ln>
                <a:solidFill>
                  <a:schemeClr val="tx1"/>
                </a:solidFill>
                <a:effectLst/>
                <a:latin typeface="Palatino Linotype" panose="02040502050505030304" pitchFamily="18" charset="0"/>
              </a:rPr>
              <a:t> is the dark saturation current,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latin typeface="Palatino Linotype" panose="02040502050505030304" pitchFamily="18" charset="0"/>
              </a:rPr>
              <a:t>q is the charge on the electron,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latin typeface="Palatino Linotype" panose="02040502050505030304" pitchFamily="18" charset="0"/>
              </a:rPr>
              <a:t>V is the voltage applied across the diode,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latin typeface="Palatino Linotype" panose="02040502050505030304" pitchFamily="18" charset="0"/>
              </a:rPr>
              <a:t>η is the (exponential) ideality factor.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latin typeface="Palatino Linotype" panose="02040502050505030304" pitchFamily="18" charset="0"/>
              </a:rPr>
              <a:t>I is the current flowing through the diode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latin typeface="Palatino Linotype" panose="02040502050505030304" pitchFamily="18" charset="0"/>
              </a:rPr>
              <a:t> k  is the Boltzmann constant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latin typeface="Palatino Linotype" panose="02040502050505030304" pitchFamily="18" charset="0"/>
              </a:rPr>
              <a:t>T is the absolute temperature in Kelvin.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0" i="0" u="none" strike="noStrike" cap="none" normalizeH="0" baseline="0" dirty="0" smtClean="0">
              <a:ln>
                <a:noFill/>
              </a:ln>
              <a:solidFill>
                <a:schemeClr val="tx1"/>
              </a:solidFill>
              <a:effectLst/>
              <a:latin typeface="Palatino Linotype" panose="02040502050505030304" pitchFamily="18" charset="0"/>
            </a:endParaRPr>
          </a:p>
        </p:txBody>
      </p:sp>
      <p:pic>
        <p:nvPicPr>
          <p:cNvPr id="1028" name="Picture 4" descr="https://www.electrical4u.com/images/2017/february/1488197618.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3884" y="5268696"/>
            <a:ext cx="1552575" cy="17145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1760434" y="5965248"/>
            <a:ext cx="9699476" cy="369332"/>
          </a:xfrm>
          <a:prstGeom prst="rect">
            <a:avLst/>
          </a:prstGeom>
        </p:spPr>
        <p:txBody>
          <a:bodyPr wrap="square">
            <a:spAutoFit/>
          </a:bodyPr>
          <a:lstStyle/>
          <a:p>
            <a:r>
              <a:rPr lang="en-US" dirty="0">
                <a:latin typeface="palatino linotype" panose="02040502050505030304" pitchFamily="18" charset="0"/>
              </a:rPr>
              <a:t>The value of η is typically considered to be 1 for germanium diodes and 2 for silicon diodes</a:t>
            </a:r>
            <a:endParaRPr lang="en-IN" dirty="0"/>
          </a:p>
        </p:txBody>
      </p:sp>
    </p:spTree>
    <p:extLst>
      <p:ext uri="{BB962C8B-B14F-4D97-AF65-F5344CB8AC3E}">
        <p14:creationId xmlns:p14="http://schemas.microsoft.com/office/powerpoint/2010/main" val="195351206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267264"/>
          </a:xfrm>
        </p:spPr>
        <p:txBody>
          <a:bodyPr>
            <a:normAutofit fontScale="90000"/>
          </a:bodyPr>
          <a:lstStyle/>
          <a:p>
            <a:pPr algn="ctr"/>
            <a:r>
              <a:rPr lang="en-IN" sz="2800" b="1" dirty="0">
                <a:solidFill>
                  <a:srgbClr val="7030A0"/>
                </a:solidFill>
                <a:latin typeface="Times New Roman" panose="02020603050405020304" pitchFamily="18" charset="0"/>
                <a:cs typeface="Times New Roman" panose="02020603050405020304" pitchFamily="18" charset="0"/>
              </a:rPr>
              <a:t> Drift current</a:t>
            </a:r>
            <a:br>
              <a:rPr lang="en-IN" sz="2800" b="1" dirty="0">
                <a:solidFill>
                  <a:srgbClr val="7030A0"/>
                </a:solidFill>
                <a:latin typeface="Times New Roman" panose="02020603050405020304" pitchFamily="18" charset="0"/>
                <a:cs typeface="Times New Roman" panose="02020603050405020304" pitchFamily="18" charset="0"/>
              </a:rPr>
            </a:br>
            <a:endParaRPr lang="en-IN" sz="2800" dirty="0">
              <a:solidFill>
                <a:srgbClr val="7030A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894133"/>
            <a:ext cx="10515600" cy="4351338"/>
          </a:xfrm>
        </p:spPr>
        <p:txBody>
          <a:bodyPr>
            <a:normAutofit/>
          </a:bodyPr>
          <a:lstStyle/>
          <a:p>
            <a:pPr algn="just"/>
            <a:r>
              <a:rPr lang="en-US" sz="2000" dirty="0">
                <a:latin typeface="Times New Roman" panose="02020603050405020304" pitchFamily="18" charset="0"/>
                <a:cs typeface="Times New Roman" panose="02020603050405020304" pitchFamily="18" charset="0"/>
              </a:rPr>
              <a:t>The flow of charge carriers, which is due to the applied </a:t>
            </a:r>
            <a:r>
              <a:rPr lang="en-US" sz="2000" dirty="0">
                <a:latin typeface="Times New Roman" panose="02020603050405020304" pitchFamily="18" charset="0"/>
                <a:cs typeface="Times New Roman" panose="02020603050405020304" pitchFamily="18" charset="0"/>
                <a:hlinkClick r:id="rId2"/>
              </a:rPr>
              <a:t>voltage </a:t>
            </a:r>
            <a:r>
              <a:rPr lang="en-US" sz="2000" dirty="0">
                <a:latin typeface="Times New Roman" panose="02020603050405020304" pitchFamily="18" charset="0"/>
                <a:cs typeface="Times New Roman" panose="02020603050405020304" pitchFamily="18" charset="0"/>
              </a:rPr>
              <a:t>or electric field is called drift current.</a:t>
            </a:r>
          </a:p>
          <a:p>
            <a:pPr algn="just"/>
            <a:r>
              <a:rPr lang="en-US" sz="2000" dirty="0">
                <a:latin typeface="Times New Roman" panose="02020603050405020304" pitchFamily="18" charset="0"/>
                <a:cs typeface="Times New Roman" panose="02020603050405020304" pitchFamily="18" charset="0"/>
              </a:rPr>
              <a:t>In a semiconductor, there are two types of charge carriers, they are electrons and holes. When the voltage is applied to a semiconductor, the </a:t>
            </a:r>
            <a:r>
              <a:rPr lang="en-US" sz="2000" dirty="0">
                <a:latin typeface="Times New Roman" panose="02020603050405020304" pitchFamily="18" charset="0"/>
                <a:cs typeface="Times New Roman" panose="02020603050405020304" pitchFamily="18" charset="0"/>
                <a:hlinkClick r:id="rId3"/>
              </a:rPr>
              <a:t>free electrons</a:t>
            </a:r>
            <a:r>
              <a:rPr lang="en-US" sz="2000" dirty="0">
                <a:latin typeface="Times New Roman" panose="02020603050405020304" pitchFamily="18" charset="0"/>
                <a:cs typeface="Times New Roman" panose="02020603050405020304" pitchFamily="18" charset="0"/>
              </a:rPr>
              <a:t> move towards the positive terminal of a battery and holes move towards the negative terminal of a battery.</a:t>
            </a:r>
          </a:p>
          <a:p>
            <a:pPr algn="just"/>
            <a:endParaRPr lang="en-IN" sz="2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4"/>
          <a:stretch>
            <a:fillRect/>
          </a:stretch>
        </p:blipFill>
        <p:spPr>
          <a:xfrm>
            <a:off x="8368562" y="2462797"/>
            <a:ext cx="3579838" cy="2566676"/>
          </a:xfrm>
          <a:prstGeom prst="rect">
            <a:avLst/>
          </a:prstGeom>
        </p:spPr>
      </p:pic>
      <p:sp>
        <p:nvSpPr>
          <p:cNvPr id="5" name="Rectangle 4"/>
          <p:cNvSpPr/>
          <p:nvPr/>
        </p:nvSpPr>
        <p:spPr>
          <a:xfrm>
            <a:off x="997009" y="2753115"/>
            <a:ext cx="7608605" cy="3785652"/>
          </a:xfrm>
          <a:prstGeom prst="rect">
            <a:avLst/>
          </a:prstGeom>
        </p:spPr>
        <p:txBody>
          <a:bodyPr wrap="square">
            <a:spAutoFit/>
          </a:bodyPr>
          <a:lstStyle/>
          <a:p>
            <a:r>
              <a:rPr lang="en-US" sz="2000" dirty="0">
                <a:latin typeface="Times New Roman" panose="02020603050405020304" pitchFamily="18" charset="0"/>
                <a:cs typeface="Times New Roman" panose="02020603050405020304" pitchFamily="18" charset="0"/>
              </a:rPr>
              <a:t>The average velocity that an electron or hole achieved due to the applied voltage or electric field is called drift velocity.</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drift velocity of electrons is given </a:t>
            </a:r>
            <a:r>
              <a:rPr lang="en-US" sz="2000" dirty="0" smtClean="0">
                <a:latin typeface="Times New Roman" panose="02020603050405020304" pitchFamily="18" charset="0"/>
                <a:cs typeface="Times New Roman" panose="02020603050405020304" pitchFamily="18" charset="0"/>
              </a:rPr>
              <a:t>by </a:t>
            </a:r>
            <a:r>
              <a:rPr lang="en-US" dirty="0" err="1"/>
              <a:t>V</a:t>
            </a:r>
            <a:r>
              <a:rPr lang="en-US" sz="2000" baseline="-25000" dirty="0" err="1">
                <a:latin typeface="Times New Roman" panose="02020603050405020304" pitchFamily="18" charset="0"/>
                <a:cs typeface="Times New Roman" panose="02020603050405020304" pitchFamily="18" charset="0"/>
              </a:rPr>
              <a:t>n</a:t>
            </a:r>
            <a:r>
              <a:rPr lang="en-US" dirty="0"/>
              <a:t> = µ</a:t>
            </a:r>
            <a:r>
              <a:rPr lang="en-US" baseline="-25000" dirty="0"/>
              <a:t>n</a:t>
            </a:r>
            <a:r>
              <a:rPr lang="en-US" dirty="0"/>
              <a:t>E</a:t>
            </a:r>
            <a:endParaRPr lang="en-IN" dirty="0"/>
          </a:p>
          <a:p>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drift velocity of holes is given </a:t>
            </a:r>
            <a:r>
              <a:rPr lang="en-US" sz="2000" dirty="0" smtClean="0">
                <a:latin typeface="Times New Roman" panose="02020603050405020304" pitchFamily="18" charset="0"/>
                <a:cs typeface="Times New Roman" panose="02020603050405020304" pitchFamily="18" charset="0"/>
              </a:rPr>
              <a:t>by </a:t>
            </a:r>
            <a:r>
              <a:rPr lang="en-US" sz="2000" dirty="0" err="1">
                <a:latin typeface="Times New Roman" panose="02020603050405020304" pitchFamily="18" charset="0"/>
                <a:cs typeface="Times New Roman" panose="02020603050405020304" pitchFamily="18" charset="0"/>
              </a:rPr>
              <a:t>V</a:t>
            </a:r>
            <a:r>
              <a:rPr lang="en-US" sz="2000" baseline="-25000" dirty="0" err="1">
                <a:latin typeface="Times New Roman" panose="02020603050405020304" pitchFamily="18" charset="0"/>
                <a:cs typeface="Times New Roman" panose="02020603050405020304" pitchFamily="18" charset="0"/>
              </a:rPr>
              <a:t>p</a:t>
            </a:r>
            <a:r>
              <a:rPr lang="en-US" sz="2000" dirty="0">
                <a:latin typeface="Times New Roman" panose="02020603050405020304" pitchFamily="18" charset="0"/>
                <a:cs typeface="Times New Roman" panose="02020603050405020304" pitchFamily="18" charset="0"/>
              </a:rPr>
              <a:t> = µ</a:t>
            </a:r>
            <a:r>
              <a:rPr lang="en-US" sz="2000" baseline="-25000" dirty="0">
                <a:latin typeface="Times New Roman" panose="02020603050405020304" pitchFamily="18" charset="0"/>
                <a:cs typeface="Times New Roman" panose="02020603050405020304" pitchFamily="18" charset="0"/>
              </a:rPr>
              <a:t>p</a:t>
            </a:r>
            <a:r>
              <a:rPr lang="en-US" sz="2000" dirty="0">
                <a:latin typeface="Times New Roman" panose="02020603050405020304" pitchFamily="18" charset="0"/>
                <a:cs typeface="Times New Roman" panose="02020603050405020304" pitchFamily="18" charset="0"/>
              </a:rPr>
              <a:t>E</a:t>
            </a:r>
          </a:p>
          <a:p>
            <a:endParaRPr lang="en-US" sz="2000" dirty="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where </a:t>
            </a:r>
          </a:p>
          <a:p>
            <a:r>
              <a:rPr lang="en-US" sz="2000" dirty="0" err="1" smtClean="0">
                <a:latin typeface="Times New Roman" panose="02020603050405020304" pitchFamily="18" charset="0"/>
                <a:cs typeface="Times New Roman" panose="02020603050405020304" pitchFamily="18" charset="0"/>
              </a:rPr>
              <a:t>v</a:t>
            </a:r>
            <a:r>
              <a:rPr lang="en-US" sz="2000" baseline="-25000" dirty="0" err="1">
                <a:latin typeface="Times New Roman" panose="02020603050405020304" pitchFamily="18" charset="0"/>
                <a:cs typeface="Times New Roman" panose="02020603050405020304" pitchFamily="18" charset="0"/>
              </a:rPr>
              <a:t>n</a:t>
            </a:r>
            <a:r>
              <a:rPr lang="en-US" sz="2000" dirty="0">
                <a:latin typeface="Times New Roman" panose="02020603050405020304" pitchFamily="18" charset="0"/>
                <a:cs typeface="Times New Roman" panose="02020603050405020304" pitchFamily="18" charset="0"/>
              </a:rPr>
              <a:t> = drift velocity of electrons</a:t>
            </a:r>
            <a:br>
              <a:rPr lang="en-US" sz="2000" dirty="0">
                <a:latin typeface="Times New Roman" panose="02020603050405020304" pitchFamily="18" charset="0"/>
                <a:cs typeface="Times New Roman" panose="02020603050405020304" pitchFamily="18" charset="0"/>
              </a:rPr>
            </a:br>
            <a:r>
              <a:rPr lang="en-US" sz="2000" dirty="0" err="1" smtClean="0">
                <a:latin typeface="Times New Roman" panose="02020603050405020304" pitchFamily="18" charset="0"/>
                <a:cs typeface="Times New Roman" panose="02020603050405020304" pitchFamily="18" charset="0"/>
              </a:rPr>
              <a:t>v</a:t>
            </a:r>
            <a:r>
              <a:rPr lang="en-US" sz="2000" baseline="-25000" dirty="0" err="1">
                <a:latin typeface="Times New Roman" panose="02020603050405020304" pitchFamily="18" charset="0"/>
                <a:cs typeface="Times New Roman" panose="02020603050405020304" pitchFamily="18" charset="0"/>
              </a:rPr>
              <a:t>p</a:t>
            </a:r>
            <a:r>
              <a:rPr lang="en-US" sz="2000" dirty="0">
                <a:latin typeface="Times New Roman" panose="02020603050405020304" pitchFamily="18" charset="0"/>
                <a:cs typeface="Times New Roman" panose="02020603050405020304" pitchFamily="18" charset="0"/>
              </a:rPr>
              <a:t> = drift velocity of holes</a:t>
            </a:r>
            <a:br>
              <a:rPr lang="en-US" sz="2000" dirty="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µ</a:t>
            </a:r>
            <a:r>
              <a:rPr lang="en-US" sz="2000" baseline="-25000" dirty="0">
                <a:latin typeface="Times New Roman" panose="02020603050405020304" pitchFamily="18" charset="0"/>
                <a:cs typeface="Times New Roman" panose="02020603050405020304" pitchFamily="18" charset="0"/>
              </a:rPr>
              <a:t>n</a:t>
            </a:r>
            <a:r>
              <a:rPr lang="en-US" sz="2000" dirty="0">
                <a:latin typeface="Times New Roman" panose="02020603050405020304" pitchFamily="18" charset="0"/>
                <a:cs typeface="Times New Roman" panose="02020603050405020304" pitchFamily="18" charset="0"/>
              </a:rPr>
              <a:t> = mobility of electrons</a:t>
            </a:r>
            <a:br>
              <a:rPr lang="en-US" sz="2000" dirty="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µ</a:t>
            </a:r>
            <a:r>
              <a:rPr lang="en-US" sz="2000" baseline="-25000" dirty="0">
                <a:latin typeface="Times New Roman" panose="02020603050405020304" pitchFamily="18" charset="0"/>
                <a:cs typeface="Times New Roman" panose="02020603050405020304" pitchFamily="18" charset="0"/>
              </a:rPr>
              <a:t>p</a:t>
            </a:r>
            <a:r>
              <a:rPr lang="en-US" sz="2000" dirty="0">
                <a:latin typeface="Times New Roman" panose="02020603050405020304" pitchFamily="18" charset="0"/>
                <a:cs typeface="Times New Roman" panose="02020603050405020304" pitchFamily="18" charset="0"/>
              </a:rPr>
              <a:t> = mobility of holes  </a:t>
            </a:r>
            <a:br>
              <a:rPr lang="en-US" sz="2000" dirty="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E </a:t>
            </a:r>
            <a:r>
              <a:rPr lang="en-US" sz="2000" dirty="0">
                <a:latin typeface="Times New Roman" panose="02020603050405020304" pitchFamily="18" charset="0"/>
                <a:cs typeface="Times New Roman" panose="02020603050405020304" pitchFamily="18" charset="0"/>
              </a:rPr>
              <a:t>= applied electric field      </a:t>
            </a:r>
            <a:r>
              <a:rPr lang="en-US" dirty="0">
                <a:solidFill>
                  <a:srgbClr val="666666"/>
                </a:solidFill>
                <a:latin typeface="Helvetica" panose="020B0604020202020204" pitchFamily="34" charset="0"/>
              </a:rPr>
              <a:t>    </a:t>
            </a:r>
            <a:endParaRPr lang="en-IN" dirty="0"/>
          </a:p>
        </p:txBody>
      </p:sp>
    </p:spTree>
    <p:extLst>
      <p:ext uri="{BB962C8B-B14F-4D97-AF65-F5344CB8AC3E}">
        <p14:creationId xmlns:p14="http://schemas.microsoft.com/office/powerpoint/2010/main" val="154795851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50378"/>
            <a:ext cx="10515600" cy="5826585"/>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The drift current density due to free electrons is given by</a:t>
            </a:r>
          </a:p>
          <a:p>
            <a:pPr marL="0" indent="0">
              <a:buNone/>
            </a:pPr>
            <a:r>
              <a:rPr lang="en-US" dirty="0">
                <a:latin typeface="Times New Roman" panose="02020603050405020304" pitchFamily="18" charset="0"/>
                <a:cs typeface="Times New Roman" panose="02020603050405020304" pitchFamily="18" charset="0"/>
              </a:rPr>
              <a:t>                                                   </a:t>
            </a:r>
            <a:r>
              <a:rPr lang="en-US" dirty="0">
                <a:solidFill>
                  <a:schemeClr val="accent2">
                    <a:lumMod val="75000"/>
                  </a:schemeClr>
                </a:solidFill>
                <a:latin typeface="Times New Roman" panose="02020603050405020304" pitchFamily="18" charset="0"/>
                <a:cs typeface="Times New Roman" panose="02020603050405020304" pitchFamily="18" charset="0"/>
              </a:rPr>
              <a:t> </a:t>
            </a:r>
            <a:r>
              <a:rPr lang="en-US" dirty="0" err="1">
                <a:solidFill>
                  <a:schemeClr val="accent2">
                    <a:lumMod val="75000"/>
                  </a:schemeClr>
                </a:solidFill>
                <a:latin typeface="Times New Roman" panose="02020603050405020304" pitchFamily="18" charset="0"/>
                <a:cs typeface="Times New Roman" panose="02020603050405020304" pitchFamily="18" charset="0"/>
              </a:rPr>
              <a:t>J</a:t>
            </a:r>
            <a:r>
              <a:rPr lang="en-US" baseline="-25000" dirty="0" err="1">
                <a:solidFill>
                  <a:schemeClr val="accent2">
                    <a:lumMod val="75000"/>
                  </a:schemeClr>
                </a:solidFill>
                <a:latin typeface="Times New Roman" panose="02020603050405020304" pitchFamily="18" charset="0"/>
                <a:cs typeface="Times New Roman" panose="02020603050405020304" pitchFamily="18" charset="0"/>
              </a:rPr>
              <a:t>n</a:t>
            </a:r>
            <a:r>
              <a:rPr lang="en-US" dirty="0">
                <a:solidFill>
                  <a:schemeClr val="accent2">
                    <a:lumMod val="75000"/>
                  </a:schemeClr>
                </a:solidFill>
                <a:latin typeface="Times New Roman" panose="02020603050405020304" pitchFamily="18" charset="0"/>
                <a:cs typeface="Times New Roman" panose="02020603050405020304" pitchFamily="18" charset="0"/>
              </a:rPr>
              <a:t>=</a:t>
            </a:r>
            <a:r>
              <a:rPr lang="en-US" i="1" dirty="0">
                <a:solidFill>
                  <a:schemeClr val="accent2">
                    <a:lumMod val="75000"/>
                  </a:schemeClr>
                </a:solidFill>
                <a:latin typeface="Times New Roman" panose="02020603050405020304" pitchFamily="18" charset="0"/>
                <a:cs typeface="Times New Roman" panose="02020603050405020304" pitchFamily="18" charset="0"/>
              </a:rPr>
              <a:t> </a:t>
            </a:r>
            <a:r>
              <a:rPr lang="en-US" i="1" dirty="0" err="1">
                <a:solidFill>
                  <a:schemeClr val="accent2">
                    <a:lumMod val="75000"/>
                  </a:schemeClr>
                </a:solidFill>
                <a:latin typeface="Times New Roman" panose="02020603050405020304" pitchFamily="18" charset="0"/>
                <a:cs typeface="Times New Roman" panose="02020603050405020304" pitchFamily="18" charset="0"/>
              </a:rPr>
              <a:t>e</a:t>
            </a:r>
            <a:r>
              <a:rPr lang="en-US" dirty="0" err="1">
                <a:solidFill>
                  <a:schemeClr val="accent2">
                    <a:lumMod val="75000"/>
                  </a:schemeClr>
                </a:solidFill>
                <a:latin typeface="Times New Roman" panose="02020603050405020304" pitchFamily="18" charset="0"/>
                <a:cs typeface="Times New Roman" panose="02020603050405020304" pitchFamily="18" charset="0"/>
              </a:rPr>
              <a:t>nµ</a:t>
            </a:r>
            <a:r>
              <a:rPr lang="en-US" baseline="-25000" dirty="0" err="1">
                <a:solidFill>
                  <a:schemeClr val="accent2">
                    <a:lumMod val="75000"/>
                  </a:schemeClr>
                </a:solidFill>
                <a:latin typeface="Times New Roman" panose="02020603050405020304" pitchFamily="18" charset="0"/>
                <a:cs typeface="Times New Roman" panose="02020603050405020304" pitchFamily="18" charset="0"/>
              </a:rPr>
              <a:t>n</a:t>
            </a:r>
            <a:r>
              <a:rPr lang="en-US" dirty="0" err="1">
                <a:solidFill>
                  <a:schemeClr val="accent2">
                    <a:lumMod val="75000"/>
                  </a:schemeClr>
                </a:solidFill>
                <a:latin typeface="Times New Roman" panose="02020603050405020304" pitchFamily="18" charset="0"/>
                <a:cs typeface="Times New Roman" panose="02020603050405020304" pitchFamily="18" charset="0"/>
              </a:rPr>
              <a:t>E</a:t>
            </a:r>
            <a:endParaRPr lang="en-US" dirty="0">
              <a:solidFill>
                <a:schemeClr val="accent2">
                  <a:lumMod val="75000"/>
                </a:schemeClr>
              </a:solidFill>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drift current density due to holes is given by</a:t>
            </a:r>
          </a:p>
          <a:p>
            <a:pPr marL="0" indent="0">
              <a:buNone/>
            </a:pPr>
            <a:r>
              <a:rPr lang="en-US" dirty="0">
                <a:latin typeface="Times New Roman" panose="02020603050405020304" pitchFamily="18" charset="0"/>
                <a:cs typeface="Times New Roman" panose="02020603050405020304" pitchFamily="18" charset="0"/>
              </a:rPr>
              <a:t>                                                    </a:t>
            </a:r>
            <a:r>
              <a:rPr lang="en-US" dirty="0" err="1">
                <a:solidFill>
                  <a:schemeClr val="accent2">
                    <a:lumMod val="75000"/>
                  </a:schemeClr>
                </a:solidFill>
                <a:latin typeface="Times New Roman" panose="02020603050405020304" pitchFamily="18" charset="0"/>
                <a:cs typeface="Times New Roman" panose="02020603050405020304" pitchFamily="18" charset="0"/>
              </a:rPr>
              <a:t>J</a:t>
            </a:r>
            <a:r>
              <a:rPr lang="en-US" baseline="-25000" dirty="0" err="1">
                <a:solidFill>
                  <a:schemeClr val="accent2">
                    <a:lumMod val="75000"/>
                  </a:schemeClr>
                </a:solidFill>
                <a:latin typeface="Times New Roman" panose="02020603050405020304" pitchFamily="18" charset="0"/>
                <a:cs typeface="Times New Roman" panose="02020603050405020304" pitchFamily="18" charset="0"/>
              </a:rPr>
              <a:t>p</a:t>
            </a:r>
            <a:r>
              <a:rPr lang="en-US" dirty="0">
                <a:solidFill>
                  <a:schemeClr val="accent2">
                    <a:lumMod val="75000"/>
                  </a:schemeClr>
                </a:solidFill>
                <a:latin typeface="Times New Roman" panose="02020603050405020304" pitchFamily="18" charset="0"/>
                <a:cs typeface="Times New Roman" panose="02020603050405020304" pitchFamily="18" charset="0"/>
              </a:rPr>
              <a:t> = </a:t>
            </a:r>
            <a:r>
              <a:rPr lang="en-US" i="1" dirty="0" err="1">
                <a:solidFill>
                  <a:schemeClr val="accent2">
                    <a:lumMod val="75000"/>
                  </a:schemeClr>
                </a:solidFill>
                <a:latin typeface="Times New Roman" panose="02020603050405020304" pitchFamily="18" charset="0"/>
                <a:cs typeface="Times New Roman" panose="02020603050405020304" pitchFamily="18" charset="0"/>
              </a:rPr>
              <a:t>e</a:t>
            </a:r>
            <a:r>
              <a:rPr lang="en-US" dirty="0" err="1">
                <a:solidFill>
                  <a:schemeClr val="accent2">
                    <a:lumMod val="75000"/>
                  </a:schemeClr>
                </a:solidFill>
                <a:latin typeface="Times New Roman" panose="02020603050405020304" pitchFamily="18" charset="0"/>
                <a:cs typeface="Times New Roman" panose="02020603050405020304" pitchFamily="18" charset="0"/>
              </a:rPr>
              <a:t>pµ</a:t>
            </a:r>
            <a:r>
              <a:rPr lang="en-US" baseline="-25000" dirty="0" err="1">
                <a:solidFill>
                  <a:schemeClr val="accent2">
                    <a:lumMod val="75000"/>
                  </a:schemeClr>
                </a:solidFill>
                <a:latin typeface="Times New Roman" panose="02020603050405020304" pitchFamily="18" charset="0"/>
                <a:cs typeface="Times New Roman" panose="02020603050405020304" pitchFamily="18" charset="0"/>
              </a:rPr>
              <a:t>p</a:t>
            </a:r>
            <a:r>
              <a:rPr lang="en-US" dirty="0" err="1">
                <a:solidFill>
                  <a:schemeClr val="accent2">
                    <a:lumMod val="75000"/>
                  </a:schemeClr>
                </a:solidFill>
                <a:latin typeface="Times New Roman" panose="02020603050405020304" pitchFamily="18" charset="0"/>
                <a:cs typeface="Times New Roman" panose="02020603050405020304" pitchFamily="18" charset="0"/>
              </a:rPr>
              <a:t>E</a:t>
            </a:r>
            <a:endParaRPr lang="en-US" dirty="0">
              <a:solidFill>
                <a:schemeClr val="accent2">
                  <a:lumMod val="75000"/>
                </a:schemeClr>
              </a:solidFill>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where      </a:t>
            </a:r>
            <a:r>
              <a:rPr lang="en-US" dirty="0" err="1" smtClean="0">
                <a:latin typeface="Times New Roman" panose="02020603050405020304" pitchFamily="18" charset="0"/>
                <a:cs typeface="Times New Roman" panose="02020603050405020304" pitchFamily="18" charset="0"/>
              </a:rPr>
              <a:t>J</a:t>
            </a:r>
            <a:r>
              <a:rPr lang="en-US" baseline="-25000" dirty="0" err="1" smtClean="0">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 drift current density due to electrons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J</a:t>
            </a:r>
            <a:r>
              <a:rPr lang="en-US" baseline="-25000" dirty="0" err="1">
                <a:latin typeface="Times New Roman" panose="02020603050405020304" pitchFamily="18" charset="0"/>
                <a:cs typeface="Times New Roman" panose="02020603050405020304" pitchFamily="18" charset="0"/>
              </a:rPr>
              <a:t>p</a:t>
            </a:r>
            <a:r>
              <a:rPr lang="en-US" dirty="0">
                <a:latin typeface="Times New Roman" panose="02020603050405020304" pitchFamily="18" charset="0"/>
                <a:cs typeface="Times New Roman" panose="02020603050405020304" pitchFamily="18" charset="0"/>
              </a:rPr>
              <a:t> = drift current density due to holes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e</a:t>
            </a:r>
            <a:r>
              <a:rPr lang="en-US" dirty="0">
                <a:latin typeface="Times New Roman" panose="02020603050405020304" pitchFamily="18" charset="0"/>
                <a:cs typeface="Times New Roman" panose="02020603050405020304" pitchFamily="18" charset="0"/>
              </a:rPr>
              <a:t> = charge of an electron = 1.602 × 10</a:t>
            </a:r>
            <a:r>
              <a:rPr lang="en-US" baseline="30000" dirty="0">
                <a:latin typeface="Times New Roman" panose="02020603050405020304" pitchFamily="18" charset="0"/>
                <a:cs typeface="Times New Roman" panose="02020603050405020304" pitchFamily="18" charset="0"/>
              </a:rPr>
              <a:t>-19</a:t>
            </a:r>
            <a:r>
              <a:rPr lang="en-US" dirty="0">
                <a:latin typeface="Times New Roman" panose="02020603050405020304" pitchFamily="18" charset="0"/>
                <a:cs typeface="Times New Roman" panose="02020603050405020304" pitchFamily="18" charset="0"/>
              </a:rPr>
              <a:t> Coulombs (C).</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n = number of electrons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 = number of </a:t>
            </a:r>
            <a:r>
              <a:rPr lang="en-US" dirty="0" smtClean="0">
                <a:latin typeface="Times New Roman" panose="02020603050405020304" pitchFamily="18" charset="0"/>
                <a:cs typeface="Times New Roman" panose="02020603050405020304" pitchFamily="18" charset="0"/>
              </a:rPr>
              <a:t>holes</a:t>
            </a:r>
          </a:p>
          <a:p>
            <a:pPr marL="0" indent="0">
              <a:buNone/>
            </a:pPr>
            <a:r>
              <a:rPr lang="en-IN" dirty="0">
                <a:latin typeface="Times New Roman" panose="02020603050405020304" pitchFamily="18" charset="0"/>
                <a:cs typeface="Times New Roman" panose="02020603050405020304" pitchFamily="18" charset="0"/>
              </a:rPr>
              <a:t>Then the total drift current density is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J = </a:t>
            </a:r>
            <a:r>
              <a:rPr lang="en-IN" dirty="0" err="1">
                <a:latin typeface="Times New Roman" panose="02020603050405020304" pitchFamily="18" charset="0"/>
                <a:cs typeface="Times New Roman" panose="02020603050405020304" pitchFamily="18" charset="0"/>
              </a:rPr>
              <a:t>J</a:t>
            </a:r>
            <a:r>
              <a:rPr lang="en-IN" baseline="-25000" dirty="0" err="1">
                <a:latin typeface="Times New Roman" panose="02020603050405020304" pitchFamily="18" charset="0"/>
                <a:cs typeface="Times New Roman" panose="02020603050405020304" pitchFamily="18" charset="0"/>
              </a:rPr>
              <a:t>n</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J</a:t>
            </a:r>
            <a:r>
              <a:rPr lang="en-IN" baseline="-25000" dirty="0" err="1">
                <a:latin typeface="Times New Roman" panose="02020603050405020304" pitchFamily="18" charset="0"/>
                <a:cs typeface="Times New Roman" panose="02020603050405020304" pitchFamily="18" charset="0"/>
              </a:rPr>
              <a:t>p</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smtClean="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                                     = </a:t>
            </a:r>
            <a:r>
              <a:rPr lang="en-IN" i="1" dirty="0" err="1">
                <a:latin typeface="Times New Roman" panose="02020603050405020304" pitchFamily="18" charset="0"/>
                <a:cs typeface="Times New Roman" panose="02020603050405020304" pitchFamily="18" charset="0"/>
              </a:rPr>
              <a:t>e</a:t>
            </a:r>
            <a:r>
              <a:rPr lang="en-IN" dirty="0" err="1">
                <a:latin typeface="Times New Roman" panose="02020603050405020304" pitchFamily="18" charset="0"/>
                <a:cs typeface="Times New Roman" panose="02020603050405020304" pitchFamily="18" charset="0"/>
              </a:rPr>
              <a:t>nµ</a:t>
            </a:r>
            <a:r>
              <a:rPr lang="en-IN" baseline="-25000" dirty="0" err="1">
                <a:latin typeface="Times New Roman" panose="02020603050405020304" pitchFamily="18" charset="0"/>
                <a:cs typeface="Times New Roman" panose="02020603050405020304" pitchFamily="18" charset="0"/>
              </a:rPr>
              <a:t>n</a:t>
            </a:r>
            <a:r>
              <a:rPr lang="en-IN" dirty="0" err="1">
                <a:latin typeface="Times New Roman" panose="02020603050405020304" pitchFamily="18" charset="0"/>
                <a:cs typeface="Times New Roman" panose="02020603050405020304" pitchFamily="18" charset="0"/>
              </a:rPr>
              <a:t>E</a:t>
            </a:r>
            <a:r>
              <a:rPr lang="en-IN" dirty="0">
                <a:latin typeface="Times New Roman" panose="02020603050405020304" pitchFamily="18" charset="0"/>
                <a:cs typeface="Times New Roman" panose="02020603050405020304" pitchFamily="18" charset="0"/>
              </a:rPr>
              <a:t> + </a:t>
            </a:r>
            <a:r>
              <a:rPr lang="en-IN" i="1" dirty="0" err="1">
                <a:latin typeface="Times New Roman" panose="02020603050405020304" pitchFamily="18" charset="0"/>
                <a:cs typeface="Times New Roman" panose="02020603050405020304" pitchFamily="18" charset="0"/>
              </a:rPr>
              <a:t>e</a:t>
            </a:r>
            <a:r>
              <a:rPr lang="en-IN" dirty="0" err="1">
                <a:latin typeface="Times New Roman" panose="02020603050405020304" pitchFamily="18" charset="0"/>
                <a:cs typeface="Times New Roman" panose="02020603050405020304" pitchFamily="18" charset="0"/>
              </a:rPr>
              <a:t>pµ</a:t>
            </a:r>
            <a:r>
              <a:rPr lang="en-IN" baseline="-25000" dirty="0" err="1">
                <a:latin typeface="Times New Roman" panose="02020603050405020304" pitchFamily="18" charset="0"/>
                <a:cs typeface="Times New Roman" panose="02020603050405020304" pitchFamily="18" charset="0"/>
              </a:rPr>
              <a:t>p</a:t>
            </a:r>
            <a:r>
              <a:rPr lang="en-IN" dirty="0" err="1">
                <a:latin typeface="Times New Roman" panose="02020603050405020304" pitchFamily="18" charset="0"/>
                <a:cs typeface="Times New Roman" panose="02020603050405020304" pitchFamily="18" charset="0"/>
              </a:rPr>
              <a:t>E</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               </a:t>
            </a:r>
            <a:r>
              <a:rPr lang="en-IN" dirty="0">
                <a:solidFill>
                  <a:schemeClr val="accent2">
                    <a:lumMod val="75000"/>
                  </a:schemeClr>
                </a:solidFill>
                <a:latin typeface="Times New Roman" panose="02020603050405020304" pitchFamily="18" charset="0"/>
                <a:cs typeface="Times New Roman" panose="02020603050405020304" pitchFamily="18" charset="0"/>
              </a:rPr>
              <a:t>J = </a:t>
            </a:r>
            <a:r>
              <a:rPr lang="en-IN" i="1" dirty="0">
                <a:solidFill>
                  <a:schemeClr val="accent2">
                    <a:lumMod val="75000"/>
                  </a:schemeClr>
                </a:solidFill>
                <a:latin typeface="Times New Roman" panose="02020603050405020304" pitchFamily="18" charset="0"/>
                <a:cs typeface="Times New Roman" panose="02020603050405020304" pitchFamily="18" charset="0"/>
              </a:rPr>
              <a:t>e</a:t>
            </a:r>
            <a:r>
              <a:rPr lang="en-IN" dirty="0">
                <a:solidFill>
                  <a:schemeClr val="accent2">
                    <a:lumMod val="75000"/>
                  </a:schemeClr>
                </a:solidFill>
                <a:latin typeface="Times New Roman" panose="02020603050405020304" pitchFamily="18" charset="0"/>
                <a:cs typeface="Times New Roman" panose="02020603050405020304" pitchFamily="18" charset="0"/>
              </a:rPr>
              <a:t> (</a:t>
            </a:r>
            <a:r>
              <a:rPr lang="en-IN" dirty="0" err="1">
                <a:solidFill>
                  <a:schemeClr val="accent2">
                    <a:lumMod val="75000"/>
                  </a:schemeClr>
                </a:solidFill>
                <a:latin typeface="Times New Roman" panose="02020603050405020304" pitchFamily="18" charset="0"/>
                <a:cs typeface="Times New Roman" panose="02020603050405020304" pitchFamily="18" charset="0"/>
              </a:rPr>
              <a:t>nµ</a:t>
            </a:r>
            <a:r>
              <a:rPr lang="en-IN" baseline="-25000" dirty="0" err="1">
                <a:solidFill>
                  <a:schemeClr val="accent2">
                    <a:lumMod val="75000"/>
                  </a:schemeClr>
                </a:solidFill>
                <a:latin typeface="Times New Roman" panose="02020603050405020304" pitchFamily="18" charset="0"/>
                <a:cs typeface="Times New Roman" panose="02020603050405020304" pitchFamily="18" charset="0"/>
              </a:rPr>
              <a:t>n</a:t>
            </a:r>
            <a:r>
              <a:rPr lang="en-IN" dirty="0">
                <a:solidFill>
                  <a:schemeClr val="accent2">
                    <a:lumMod val="75000"/>
                  </a:schemeClr>
                </a:solidFill>
                <a:latin typeface="Times New Roman" panose="02020603050405020304" pitchFamily="18" charset="0"/>
                <a:cs typeface="Times New Roman" panose="02020603050405020304" pitchFamily="18" charset="0"/>
              </a:rPr>
              <a:t> + </a:t>
            </a:r>
            <a:r>
              <a:rPr lang="en-IN" dirty="0" err="1">
                <a:solidFill>
                  <a:schemeClr val="accent2">
                    <a:lumMod val="75000"/>
                  </a:schemeClr>
                </a:solidFill>
                <a:latin typeface="Times New Roman" panose="02020603050405020304" pitchFamily="18" charset="0"/>
                <a:cs typeface="Times New Roman" panose="02020603050405020304" pitchFamily="18" charset="0"/>
              </a:rPr>
              <a:t>pµ</a:t>
            </a:r>
            <a:r>
              <a:rPr lang="en-IN" baseline="-25000" dirty="0" err="1">
                <a:solidFill>
                  <a:schemeClr val="accent2">
                    <a:lumMod val="75000"/>
                  </a:schemeClr>
                </a:solidFill>
                <a:latin typeface="Times New Roman" panose="02020603050405020304" pitchFamily="18" charset="0"/>
                <a:cs typeface="Times New Roman" panose="02020603050405020304" pitchFamily="18" charset="0"/>
              </a:rPr>
              <a:t>p</a:t>
            </a:r>
            <a:r>
              <a:rPr lang="en-IN" dirty="0">
                <a:solidFill>
                  <a:schemeClr val="accent2">
                    <a:lumMod val="75000"/>
                  </a:schemeClr>
                </a:solidFill>
                <a:latin typeface="Times New Roman" panose="02020603050405020304" pitchFamily="18" charset="0"/>
                <a:cs typeface="Times New Roman" panose="02020603050405020304" pitchFamily="18" charset="0"/>
              </a:rPr>
              <a:t>) E</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591669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549275"/>
          </a:xfrm>
        </p:spPr>
        <p:txBody>
          <a:bodyPr>
            <a:normAutofit/>
          </a:bodyPr>
          <a:lstStyle/>
          <a:p>
            <a:pPr algn="ctr"/>
            <a:r>
              <a:rPr lang="en-US" sz="3200" b="1" dirty="0" smtClean="0">
                <a:solidFill>
                  <a:srgbClr val="7030A0"/>
                </a:solidFill>
                <a:latin typeface="Times New Roman" panose="02020603050405020304" pitchFamily="18" charset="0"/>
                <a:cs typeface="Times New Roman" panose="02020603050405020304" pitchFamily="18" charset="0"/>
              </a:rPr>
              <a:t>Diffusion Current</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769121"/>
            <a:ext cx="10515600" cy="5407842"/>
          </a:xfrm>
        </p:spPr>
        <p:txBody>
          <a:bodyPr>
            <a:normAutofit/>
          </a:bodyPr>
          <a:lstStyle/>
          <a:p>
            <a:pPr lvl="0" algn="just"/>
            <a:r>
              <a:rPr lang="en-US" sz="2000" dirty="0">
                <a:latin typeface="Times New Roman" panose="02020603050405020304" pitchFamily="18" charset="0"/>
                <a:cs typeface="Times New Roman" panose="02020603050405020304" pitchFamily="18" charset="0"/>
              </a:rPr>
              <a:t>The process by which, charge carriers (electrons or </a:t>
            </a:r>
            <a:r>
              <a:rPr lang="en-US" sz="2000" dirty="0" smtClean="0">
                <a:latin typeface="Times New Roman" panose="02020603050405020304" pitchFamily="18" charset="0"/>
                <a:cs typeface="Times New Roman" panose="02020603050405020304" pitchFamily="18" charset="0"/>
              </a:rPr>
              <a:t>holes) </a:t>
            </a:r>
            <a:r>
              <a:rPr lang="en-US" sz="2000" dirty="0">
                <a:latin typeface="Times New Roman" panose="02020603050405020304" pitchFamily="18" charset="0"/>
                <a:cs typeface="Times New Roman" panose="02020603050405020304" pitchFamily="18" charset="0"/>
              </a:rPr>
              <a:t>in a semiconductor moves from a region of higher concentration to a region of lower concentration is </a:t>
            </a:r>
            <a:r>
              <a:rPr lang="en-US" sz="2000" dirty="0" smtClean="0">
                <a:latin typeface="Times New Roman" panose="02020603050405020304" pitchFamily="18" charset="0"/>
                <a:cs typeface="Times New Roman" panose="02020603050405020304" pitchFamily="18" charset="0"/>
              </a:rPr>
              <a:t>called </a:t>
            </a:r>
            <a:r>
              <a:rPr lang="en-US" sz="2000" b="1" dirty="0">
                <a:solidFill>
                  <a:schemeClr val="accent2">
                    <a:lumMod val="75000"/>
                  </a:schemeClr>
                </a:solidFill>
                <a:latin typeface="Times New Roman" panose="02020603050405020304" pitchFamily="18" charset="0"/>
                <a:cs typeface="Times New Roman" panose="02020603050405020304" pitchFamily="18" charset="0"/>
              </a:rPr>
              <a:t>diffusion. </a:t>
            </a:r>
            <a:endParaRPr lang="en-US" sz="2000" b="1" dirty="0" smtClean="0">
              <a:solidFill>
                <a:schemeClr val="accent2">
                  <a:lumMod val="75000"/>
                </a:schemeClr>
              </a:solidFill>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region in which more number of electrons is present is called higher concentration region and the region in which less number of electrons is present is called lower concentration region</a:t>
            </a:r>
            <a:r>
              <a:rPr lang="en-US" sz="2000" dirty="0" smtClean="0">
                <a:latin typeface="Times New Roman" panose="02020603050405020304" pitchFamily="18" charset="0"/>
                <a:cs typeface="Times New Roman" panose="02020603050405020304" pitchFamily="18" charset="0"/>
              </a:rPr>
              <a:t>.</a:t>
            </a:r>
          </a:p>
          <a:p>
            <a:pPr lvl="0" algn="just"/>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Current produced due to motion of charge carriers from a region of higher concentration to a region of lower concentration is called diffusion current. Diffusion process occurs in a semiconductor that is non-uniformly doped</a:t>
            </a:r>
            <a:r>
              <a:rPr lang="en-US" sz="2000" dirty="0" smtClean="0">
                <a:latin typeface="Times New Roman" panose="02020603050405020304" pitchFamily="18" charset="0"/>
                <a:cs typeface="Times New Roman" panose="02020603050405020304" pitchFamily="18" charset="0"/>
              </a:rPr>
              <a:t>.</a:t>
            </a:r>
            <a:endParaRPr lang="en-US" altLang="en-US" sz="2000" b="1" dirty="0">
              <a:solidFill>
                <a:srgbClr val="666666"/>
              </a:solidFill>
              <a:latin typeface="Helvetica" panose="020B0604020202020204" pitchFamily="34" charset="0"/>
            </a:endParaRPr>
          </a:p>
          <a:p>
            <a:pPr algn="just"/>
            <a:endParaRPr lang="en-IN" sz="18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266700" y="3519488"/>
            <a:ext cx="4317274" cy="1968169"/>
          </a:xfrm>
          <a:prstGeom prst="rect">
            <a:avLst/>
          </a:prstGeom>
        </p:spPr>
      </p:pic>
      <p:sp>
        <p:nvSpPr>
          <p:cNvPr id="5" name="Rectangle 1"/>
          <p:cNvSpPr>
            <a:spLocks noChangeArrowheads="1"/>
          </p:cNvSpPr>
          <p:nvPr/>
        </p:nvSpPr>
        <p:spPr bwMode="auto">
          <a:xfrm>
            <a:off x="4854011" y="3456332"/>
            <a:ext cx="7071289"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effectLst/>
                <a:latin typeface="Times New Roman" panose="02020603050405020304" pitchFamily="18" charset="0"/>
                <a:cs typeface="Times New Roman" panose="02020603050405020304" pitchFamily="18" charset="0"/>
              </a:rPr>
              <a:t>The concentration gradient for n-type semiconductor is given by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effectLst/>
                <a:latin typeface="Times New Roman" panose="02020603050405020304" pitchFamily="18" charset="0"/>
                <a:cs typeface="Times New Roman" panose="02020603050405020304" pitchFamily="18" charset="0"/>
              </a:rPr>
              <a:t>The concentration gradient for p-type semiconductor is given by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effectLst/>
                <a:latin typeface="Times New Roman" panose="02020603050405020304" pitchFamily="18" charset="0"/>
                <a:cs typeface="Times New Roman" panose="02020603050405020304" pitchFamily="18" charset="0"/>
              </a:rPr>
              <a:t>          Where </a:t>
            </a:r>
            <a:r>
              <a:rPr kumimoji="0" lang="en-US" altLang="en-US" b="0" i="0" u="none" strike="noStrike" cap="none" normalizeH="0" baseline="0" dirty="0" err="1" smtClean="0">
                <a:ln>
                  <a:noFill/>
                </a:ln>
                <a:effectLst/>
                <a:latin typeface="Times New Roman" panose="02020603050405020304" pitchFamily="18" charset="0"/>
                <a:cs typeface="Times New Roman" panose="02020603050405020304" pitchFamily="18" charset="0"/>
              </a:rPr>
              <a:t>J</a:t>
            </a:r>
            <a:r>
              <a:rPr kumimoji="0" lang="en-US" altLang="en-US" b="0" i="0" u="none" strike="noStrike" cap="none" normalizeH="0" baseline="-30000" dirty="0" err="1" smtClean="0">
                <a:ln>
                  <a:noFill/>
                </a:ln>
                <a:effectLst/>
                <a:latin typeface="Times New Roman" panose="02020603050405020304" pitchFamily="18" charset="0"/>
                <a:cs typeface="Times New Roman" panose="02020603050405020304" pitchFamily="18" charset="0"/>
              </a:rPr>
              <a:t>n</a:t>
            </a:r>
            <a:r>
              <a:rPr kumimoji="0" lang="en-US" altLang="en-US" b="0" i="0" u="none" strike="noStrike" cap="none" normalizeH="0" baseline="0" dirty="0" smtClean="0">
                <a:ln>
                  <a:noFill/>
                </a:ln>
                <a:effectLst/>
                <a:latin typeface="Times New Roman" panose="02020603050405020304" pitchFamily="18" charset="0"/>
                <a:cs typeface="Times New Roman" panose="02020603050405020304" pitchFamily="18" charset="0"/>
              </a:rPr>
              <a:t> = diffusion current density due to electrons</a:t>
            </a:r>
            <a:br>
              <a:rPr kumimoji="0" lang="en-US" altLang="en-US" b="0" i="0" u="none" strike="noStrike" cap="none" normalizeH="0" baseline="0" dirty="0" smtClean="0">
                <a:ln>
                  <a:noFill/>
                </a:ln>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smtClean="0">
                <a:ln>
                  <a:noFill/>
                </a:ln>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effectLst/>
                <a:latin typeface="Times New Roman" panose="02020603050405020304" pitchFamily="18" charset="0"/>
                <a:cs typeface="Times New Roman" panose="02020603050405020304" pitchFamily="18" charset="0"/>
              </a:rPr>
              <a:t>J</a:t>
            </a:r>
            <a:r>
              <a:rPr kumimoji="0" lang="en-US" altLang="en-US" b="0" i="0" u="none" strike="noStrike" cap="none" normalizeH="0" baseline="-30000" dirty="0" err="1" smtClean="0">
                <a:ln>
                  <a:noFill/>
                </a:ln>
                <a:effectLst/>
                <a:latin typeface="Times New Roman" panose="02020603050405020304" pitchFamily="18" charset="0"/>
                <a:cs typeface="Times New Roman" panose="02020603050405020304" pitchFamily="18" charset="0"/>
              </a:rPr>
              <a:t>p</a:t>
            </a:r>
            <a:r>
              <a:rPr kumimoji="0" lang="en-US" altLang="en-US" b="0" i="0" u="none" strike="noStrike" cap="none" normalizeH="0" baseline="0" dirty="0" smtClean="0">
                <a:ln>
                  <a:noFill/>
                </a:ln>
                <a:effectLst/>
                <a:latin typeface="Times New Roman" panose="02020603050405020304" pitchFamily="18" charset="0"/>
                <a:cs typeface="Times New Roman" panose="02020603050405020304" pitchFamily="18" charset="0"/>
              </a:rPr>
              <a:t> = diffusion current density due to holes</a:t>
            </a:r>
          </a:p>
        </p:txBody>
      </p:sp>
      <p:pic>
        <p:nvPicPr>
          <p:cNvPr id="2050" name="Picture 2" descr="The concentration gradient for n-type semiconductor is given b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3750" y="3456332"/>
            <a:ext cx="579784" cy="429040"/>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descr="The concentration gradient for p-type semiconductor is given b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99726" y="3931538"/>
            <a:ext cx="627832" cy="46459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4"/>
          <p:cNvSpPr>
            <a:spLocks noChangeArrowheads="1"/>
          </p:cNvSpPr>
          <p:nvPr/>
        </p:nvSpPr>
        <p:spPr bwMode="auto">
          <a:xfrm>
            <a:off x="5165296" y="-156120"/>
            <a:ext cx="1861407"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smtClean="0">
                <a:ln>
                  <a:noFill/>
                </a:ln>
                <a:solidFill>
                  <a:srgbClr val="666666"/>
                </a:solidFill>
                <a:effectLst/>
                <a:latin typeface="Helvetica" panose="020B0604020202020204" pitchFamily="34" charset="0"/>
              </a:rPr>
              <a:t>                                              </a:t>
            </a:r>
            <a:r>
              <a:rPr kumimoji="0" lang="en-US" altLang="en-US" sz="1800" b="0" i="0" u="none" strike="noStrike" cap="none" normalizeH="0" baseline="0" dirty="0" smtClean="0">
                <a:ln>
                  <a:noFill/>
                </a:ln>
                <a:solidFill>
                  <a:srgbClr val="666666"/>
                </a:solidFill>
                <a:effectLst/>
                <a:latin typeface="Helvetica" panose="020B0604020202020204" pitchFamily="34" charset="0"/>
              </a:rPr>
              <a:t> </a:t>
            </a:r>
            <a:r>
              <a:rPr kumimoji="0" lang="en-US" altLang="en-US" sz="1800" b="0" i="0" u="none" strike="noStrike" cap="none" normalizeH="0" baseline="0" dirty="0" smtClean="0">
                <a:ln>
                  <a:noFill/>
                </a:ln>
                <a:solidFill>
                  <a:schemeClr val="tx1"/>
                </a:solidFill>
                <a:effectLst/>
              </a:rPr>
              <a:t>  </a:t>
            </a:r>
            <a:r>
              <a:rPr kumimoji="0" lang="en-US" altLang="en-US" sz="4400" b="0" i="0" u="none" strike="noStrike" cap="none" normalizeH="0" baseline="0" dirty="0" smtClean="0">
                <a:ln>
                  <a:noFill/>
                </a:ln>
                <a:solidFill>
                  <a:schemeClr val="tx1"/>
                </a:solidFill>
                <a:effectLst/>
                <a:latin typeface="Arial" panose="020B0604020202020204" pitchFamily="34" charset="0"/>
              </a:rPr>
              <a:t>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2053" name="Picture 5" descr="The diffusion current density due to electrons is given b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73420" y="5229611"/>
            <a:ext cx="1410151" cy="570226"/>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3718792" y="5430504"/>
            <a:ext cx="5521704" cy="369332"/>
          </a:xfrm>
          <a:prstGeom prst="rect">
            <a:avLst/>
          </a:prstGeom>
        </p:spPr>
        <p:txBody>
          <a:bodyPr wrap="none">
            <a:spAutoFit/>
          </a:bodyPr>
          <a:lstStyle/>
          <a:p>
            <a:r>
              <a:rPr lang="en-US" altLang="en-US" dirty="0">
                <a:solidFill>
                  <a:srgbClr val="666666"/>
                </a:solidFill>
                <a:latin typeface="Helvetica" panose="020B0604020202020204" pitchFamily="34" charset="0"/>
              </a:rPr>
              <a:t> </a:t>
            </a:r>
            <a:r>
              <a:rPr lang="en-US" altLang="en-US" dirty="0">
                <a:latin typeface="Times New Roman" panose="02020603050405020304" pitchFamily="18" charset="0"/>
                <a:cs typeface="Times New Roman" panose="02020603050405020304" pitchFamily="18" charset="0"/>
              </a:rPr>
              <a:t>The diffusion current density due to electrons is given by</a:t>
            </a:r>
            <a:endParaRPr lang="en-IN" dirty="0">
              <a:latin typeface="Times New Roman" panose="02020603050405020304" pitchFamily="18" charset="0"/>
              <a:cs typeface="Times New Roman" panose="02020603050405020304" pitchFamily="18" charset="0"/>
            </a:endParaRPr>
          </a:p>
        </p:txBody>
      </p:sp>
      <p:sp>
        <p:nvSpPr>
          <p:cNvPr id="8" name="Rectangle 7"/>
          <p:cNvSpPr/>
          <p:nvPr/>
        </p:nvSpPr>
        <p:spPr>
          <a:xfrm>
            <a:off x="3831865" y="6027477"/>
            <a:ext cx="5111336"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The diffusion current density due to holes is given by</a:t>
            </a:r>
            <a:endParaRPr lang="en-IN" dirty="0">
              <a:latin typeface="Times New Roman" panose="02020603050405020304" pitchFamily="18" charset="0"/>
              <a:cs typeface="Times New Roman" panose="02020603050405020304" pitchFamily="18" charset="0"/>
            </a:endParaRPr>
          </a:p>
        </p:txBody>
      </p:sp>
      <p:pic>
        <p:nvPicPr>
          <p:cNvPr id="2055" name="Picture 7" descr="The diffusion current density due to holes is given by"/>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99477" y="5870703"/>
            <a:ext cx="1200249" cy="4853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485741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279</TotalTime>
  <Words>695</Words>
  <Application>Microsoft Office PowerPoint</Application>
  <PresentationFormat>Widescreen</PresentationFormat>
  <Paragraphs>98</Paragraphs>
  <Slides>19</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vt:i4>
      </vt:variant>
    </vt:vector>
  </HeadingPairs>
  <TitlesOfParts>
    <vt:vector size="29" baseType="lpstr">
      <vt:lpstr>Arial</vt:lpstr>
      <vt:lpstr>Calibri</vt:lpstr>
      <vt:lpstr>Calibri Light</vt:lpstr>
      <vt:lpstr>Helvetica</vt:lpstr>
      <vt:lpstr>Lato</vt:lpstr>
      <vt:lpstr>Palatino Linotype</vt:lpstr>
      <vt:lpstr>Palatino Linotype</vt:lpstr>
      <vt:lpstr>Times New Roman</vt:lpstr>
      <vt:lpstr>Wingdings</vt:lpstr>
      <vt:lpstr>Office Theme</vt:lpstr>
      <vt:lpstr>CLIPPERS</vt:lpstr>
      <vt:lpstr>PN Diode Clippers</vt:lpstr>
      <vt:lpstr>PowerPoint Presentation</vt:lpstr>
      <vt:lpstr>Clipping of Both Half Cycles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Clampers </vt:lpstr>
      <vt:lpstr>PN Diode – Clamping Circuits</vt:lpstr>
      <vt:lpstr>Positive Clamper Circuit </vt:lpstr>
      <vt:lpstr>Negative Clamper Circuit </vt:lpstr>
      <vt:lpstr>Diode Current Equation </vt:lpstr>
      <vt:lpstr> Drift current </vt:lpstr>
      <vt:lpstr>PowerPoint Presentation</vt:lpstr>
      <vt:lpstr>Diffusion Current</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PN Diode Clippers</dc:title>
  <dc:creator>REC</dc:creator>
  <cp:lastModifiedBy>REC</cp:lastModifiedBy>
  <cp:revision>15</cp:revision>
  <dcterms:created xsi:type="dcterms:W3CDTF">2025-09-10T06:09:00Z</dcterms:created>
  <dcterms:modified xsi:type="dcterms:W3CDTF">2025-09-11T11:35:35Z</dcterms:modified>
</cp:coreProperties>
</file>